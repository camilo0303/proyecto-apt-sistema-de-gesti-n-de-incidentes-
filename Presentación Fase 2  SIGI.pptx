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4" r:id="rId23"/>
    <p:sldId id="285" r:id="rId24"/>
    <p:sldId id="286" r:id="rId2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8038" autoAdjust="0"/>
  </p:normalViewPr>
  <p:slideViewPr>
    <p:cSldViewPr snapToGrid="0">
      <p:cViewPr varScale="1">
        <p:scale>
          <a:sx n="44" d="100"/>
          <a:sy n="44" d="100"/>
        </p:scale>
        <p:origin x="15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Presentamos el avance de fase 2 del Sistema de Gestión de Incidencias. La exposición utiliza la versión frontend-francisco y la evidencia de ejecución local del 18 de octubre. La fecha de presentación es el 19 de octubre de 2026.</a:t>
            </a:r>
          </a:p>
          <a:p>
            <a:endParaRPr/>
          </a:p>
          <a:p>
            <a:r>
              <a:t>Fuente: Informe de avance Fase 2 - SIGI.docx, versión con anexo E.</a:t>
            </a:r>
          </a:p>
          <a:p>
            <a:r>
              <a:t>Profesor: German Gabriel Barrientos Tereucan.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SIGI es una aplicación web para que el personal autorizado reporte fallas de salas y equipos y pueda seguir su atención. El ejemplo usa un proyector que no da imagen: el profesor registra el problema, el técnico lo atiende y el profesor consulta el estado. La plataforma conserva el historial. El módulo de alerta interna sigue en desarrollo.</a:t>
            </a:r>
          </a:p>
          <a:p>
            <a:endParaRPr/>
          </a:p>
          <a:p>
            <a:r>
              <a:t>Fuente: Informe de avance Fase 2 - SIGI.docx, versión con anexo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problema definido en la fase 1 es la dispersión de los avisos de fallas dentro de un establecimiento educacional. No presentamos cifras de frecuencia ni tiempos de mejora porque todavía no contamos con una medición institucional.</a:t>
            </a:r>
          </a:p>
          <a:p>
            <a:endParaRPr/>
          </a:p>
          <a:p>
            <a:r>
              <a:t>Fuente: Guía de definición del proyecto APT fase 1 y plan de trabajo del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solución reúne el reporte y la gestión en una plataforma web. Los QR identifican salas. El botón de pánico pertenece al alcance, pero sigue como demostración visual. Los indicadores y Power BI tienen estados diferentes que se explican después.</a:t>
            </a:r>
          </a:p>
          <a:p>
            <a:endParaRPr/>
          </a:p>
          <a:p>
            <a:r>
              <a:t>Fuente: Informe de avance Fase 2 - SIGI.docx, versión con anexo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objetivo general y los cuatro objetivos específicos provienen de la guía de definición de fase 1. No se han eliminado objetivos. Los ajustes se concentran en la organización del trabajo.</a:t>
            </a:r>
          </a:p>
          <a:p>
            <a:endParaRPr/>
          </a:p>
          <a:p>
            <a:r>
              <a:t>Fuente: Guía de definición del proyecto APT fase 1 y plan de trabajo del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distribución corresponde al plan original. La tabla no pretende sustituir el historial de commits para demostrar la contribución real de cada integrante. Los tres participan en integración, documentación y decisiones.</a:t>
            </a:r>
          </a:p>
          <a:p>
            <a:endParaRPr/>
          </a:p>
          <a:p>
            <a:r>
              <a:t>Fuente: Guía de definición del proyecto APT fase 1 y plan de trabajo del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interfaz utiliza React y Vite. El backend utiliza Node.js y Express y consulta MySQL. La API controla los permisos y ejecuta las operaciones de datos. El esquema es conceptual y no representa una captura de ejecución.</a:t>
            </a:r>
          </a:p>
          <a:p>
            <a:endParaRPr/>
          </a:p>
          <a:p>
            <a:r>
              <a:t>Fuente: Informe de avance Fase 2 - SIGI.docx, versión con anexo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Este resumen muestra las entidades que participan en el flujo validado. La creación genera un movimiento por disparador. Las acciones técnicas guardan los cambios de estado y su responsable. No es el modelo entidad relación completo.</a:t>
            </a:r>
          </a:p>
          <a:p>
            <a:endParaRPr/>
          </a:p>
          <a:p>
            <a:r>
              <a:t>Fuente: Informe de avance Fase 2 - SIGI.docx, versión con anexo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esquema maestro incluye 16 tablas. Las agrupamos para explicar su propósito y las detallamos en las diapositivas siguientes. No se incluyen valores de contraseñas ni datos privados.</a:t>
            </a:r>
          </a:p>
          <a:p>
            <a:endParaRPr/>
          </a:p>
          <a:p>
            <a:r>
              <a:t>Fuente: SQL BD_MAESTRA_APT_INCIDENTES_V02_FINAL.txt de main. Estructura importada en la prueba local del 18/10/2026.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usuarios almacena las cuentas y referencia roles. correos_autorizados también referencia roles para controlar el registro. El campo password forma parte de la estructura, pero no mostramos ningún valor.</a:t>
            </a:r>
          </a:p>
          <a:p>
            <a:endParaRPr/>
          </a:p>
          <a:p>
            <a:r>
              <a:t>Relaciones: usuarios.id_rol y correos_autorizados.id_rol referencian roles.id_rol.</a:t>
            </a:r>
          </a:p>
          <a:p>
            <a:endParaRPr/>
          </a:p>
          <a:p>
            <a:r>
              <a:t>Fuente: SQL BD_MAESTRA_APT_INCIDENTES_V02_FINAL.txt de main. Estructura importada en la prueba local del 18/10/2026.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jerarquía relaciona edificios con pisos, pisos con salas y salas con equipos. El código QR pertenece a salas. Los nombres corresponden exactamente al SQL.</a:t>
            </a:r>
          </a:p>
          <a:p>
            <a:endParaRPr/>
          </a:p>
          <a:p>
            <a:r>
              <a:t>Relaciones: pisos.id_edificio referencia edificios.id_edificio; salas.id_piso referencia pisos.id_piso; equipos.id_sala referencia salas.id_sala.</a:t>
            </a:r>
          </a:p>
          <a:p>
            <a:endParaRPr/>
          </a:p>
          <a:p>
            <a:r>
              <a:t>Fuente: SQL BD_MAESTRA_APT_INCIDENTES_V02_FINAL.txt de main. Estructura importada en la prueba local del 18/10/2026.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catálogos evitan repetir los textos de estado, prioridad y categoría en cada incidencia. Cada registro de incidencias referencia las claves de estas tres tablas. No se muestran registros completos ni estadísticas de uso.</a:t>
            </a:r>
          </a:p>
          <a:p>
            <a:endParaRPr/>
          </a:p>
          <a:p>
            <a:r>
              <a:t>Fuente: SQL BD_MAESTRA_APT_INCIDENTES_V02_FINAL.txt de main. Estructura importada en la prueba local del 18/10/2026.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Trabajamos con una metodología ágil basada en Scrum y adaptada al contexto académico. El docente revisa los avances semanalmente y las observaciones orientan el trabajo para la semana siguiente. No se dispone de actas que permitan detallar todas las observaciones individuales.</a:t>
            </a:r>
          </a:p>
          <a:p>
            <a:endParaRPr/>
          </a:p>
          <a:p>
            <a:r>
              <a:t>Fuente: Informe de avance Fase 2 - SIGI.docx, versión con anexo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Las dificultades de conexión y QR corresponden a lo informado por el equipo y a los ajustes descritos en el informe. Durante la ejecución local comprobamos el flujo principal y la lectura mediante imagen. Mantuvimos los objetivos y reorganizamos tareas para superar las dependencias.</a:t>
            </a:r>
          </a:p>
          <a:p>
            <a:endParaRPr/>
          </a:p>
          <a:p>
            <a:r>
              <a:t>Fuente: Informe de avance Fase 2 - SIGI.docx, versión con anexo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tabla separa lo comprobado de lo pendiente. La prueba del sistema utiliza datos ficticios y no equivale a una implantación institucional. Los indicadores del panel técnico funcionaron, mientras el panel del profesor tuvo un error por vista ausente.</a:t>
            </a:r>
          </a:p>
          <a:p>
            <a:endParaRPr/>
          </a:p>
          <a:p>
            <a:r>
              <a:t>Fuente: Informe de avance Fase 2 - SIGI.docx, versión con anexo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Muestra de la pantalla real de inicio de sesión. Se crearon cuentas ficticias para profesor, técnico y administrador en una instancia separada de MySQL. No mostrar ni leer las contraseñas durante la exposición. La validación de permisos se demuestra con los resultados de API.</a:t>
            </a:r>
          </a:p>
          <a:p>
            <a:endParaRPr/>
          </a:p>
          <a:p>
            <a:r>
              <a:t>Fuente: evidencias_funcionamiento/01_acceso.png; evidencias_funcionamiento/resultados_verificados.json. Ejecución del 18 de octubre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Muestra del registro real INC-0002. El caso es un proyector sin imagen en Sala 101, prioridad Alta y categoría Hardware. La aplicación confirmó la creación, y posteriormente la consulta directa a MySQL confirmó la persistencia. El reporte es ficticio.</a:t>
            </a:r>
          </a:p>
          <a:p>
            <a:endParaRPr/>
          </a:p>
          <a:p>
            <a:r>
              <a:t>Fuente: evidencias_funcionamiento/04_incidencia_registrada.png; evidencias_funcionamiento/resultados_verificados.json. Ejecución del 18 de octubre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técnico toma la incidencia y queda como responsable. La interfaz muestra En atención y la base utiliza el estado En proceso. La captura corresponde a la misma INC-0002.</a:t>
            </a:r>
          </a:p>
          <a:p>
            <a:endParaRPr/>
          </a:p>
          <a:p>
            <a:r>
              <a:t>Fuente: evidencias_funcionamiento/06_incidencia_en_atencion.png; evidencias_funcionamiento/resultados_verificados.json. Ejecución del 18 de octubre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incidencia se resolvió desde la cuenta técnica con un comentario explícitamente simulado. Después de volver a iniciar sesión, el profesor pudo verla como Resuelta. Esto valida el flujo del software, no una reparación física del proyector.</a:t>
            </a:r>
          </a:p>
          <a:p>
            <a:endParaRPr/>
          </a:p>
          <a:p>
            <a:r>
              <a:t>Fuente: evidencias_funcionamiento/12_reporte_resuelto_profesor.png; evidencias_funcionamiento/resultados_verificados.json. Ejecución del 18 de octubre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captura del administrador muestra los movimientos de creación, atención y resolución. La consulta directa a MySQL devolvió esos mismos movimientos para INC-0002. Cada acción conserva usuario, estado y comentario.</a:t>
            </a:r>
          </a:p>
          <a:p>
            <a:endParaRPr/>
          </a:p>
          <a:p>
            <a:r>
              <a:t>Fuente: evidencias_funcionamiento/09_historial_movimientos.png; evidencias_funcionamiento/resultados_verificados.json. Ejecución del 18 de octubre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administrador generó el QR de Sala 101. Desde profesor cargamos esa imagen en el lector y el sistema abrió /reportar?sala=1 con la sala correcta. No se utilizó cámara, por lo que esa modalidad sigue pendiente.</a:t>
            </a:r>
          </a:p>
          <a:p>
            <a:endParaRPr/>
          </a:p>
          <a:p>
            <a:r>
              <a:t>Fuente: evidencias_funcionamiento/qr_sala_101.png; evidencias_funcionamiento/11_sala_seleccionada_por_qr.png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Las alertas reales y Power BI pertenecen al alcance original. La pantalla de emergencia es una demostración y no envía alertas. Aún se requiere probar cámara y móvil. No se presenta esta versión como sistema desplegado en un establecimiento.</a:t>
            </a:r>
          </a:p>
          <a:p>
            <a:endParaRPr/>
          </a:p>
          <a:p>
            <a:r>
              <a:t>Fuente: Informe de avance Fase 2 - SIGI.docx, versión con anexo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Este orden es una propuesta de continuidad basada en dependencias, no un calendario aprobado. Primero corregimos los errores del entorno y de registro, después repetimos la validación y completamos las funciones pendientes. Debemos conservar los aportes de cada integrante en GitHub.</a:t>
            </a:r>
          </a:p>
          <a:p>
            <a:endParaRPr/>
          </a:p>
          <a:p>
            <a:r>
              <a:t>Fuente: Informe de avance Fase 2 - SIGI.docx, versión con anexo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conclusión se refiere al avance comprobado y a las dificultades informadas por el equipo. No atribuimos mejoras de tiempos o impacto institucional porque no se midieron. Los integrantes pueden relacionar estos puntos con sus responsabilidades al cerrar la exposición.</a:t>
            </a:r>
          </a:p>
          <a:p>
            <a:endParaRPr/>
          </a:p>
          <a:p>
            <a:r>
              <a:t>Fuente: Informe de avance Fase 2 - SIGI.docx, versión con anexo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52457E7-CA20-42BD-B098-F9DEE98D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6D2A757-4403-47B7-A3F6-3F464909E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0F220FC-8FE7-4BB8-9928-AFC42CEC3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EF640D6-0E5D-45E0-A71C-14C20184E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F796C93-9BD3-423D-A7A9-C076D26B1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CE8193B-A80D-4B2E-8E20-100C13014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A1C7E9F-04E2-478A-8032-AA8DEEF1E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B97BD5D1-09C1-4546-9D23-70614918876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0B33600-E165-4E67-A4DB-0B00D38E4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00581E5-1E28-4E0C-8275-A3E58391D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B18"/>
            </a:gs>
            <a:gs pos="55000">
              <a:srgbClr val="191537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06D37C72-BC2E-4DAD-B82D-430638FAD3E8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3B9D2"/>
                </a:solidFill>
                <a:latin typeface="Arial"/>
                <a:ea typeface="Arial"/>
                <a:cs typeface="Arial"/>
              </a:rPr>
              <a:t>01   SIGI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E3700C6-3355-4FFF-8C82-F47406C007CE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53340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585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585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585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585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585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585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585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585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585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585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585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585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SIGI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BFD8803-3DC3-4B90-9C15-7A9E5CA214B8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5715000" cy="1619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4875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4875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4875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4875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4875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4875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4875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4875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4875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4875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4875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4875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Gestión de</a:t>
            </a:r>
            <a:br>
              <a:rPr sz="4875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</a:br>
            <a:r>
              <a:rPr sz="4875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incidencias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D05D7FD-BF21-4AC0-A6B8-0B499B5C14D2}"/>
              </a:ext>
            </a:extLst>
          </p:cNvPr>
          <p:cNvSpPr>
            <a:spLocks noGrp="1"/>
          </p:cNvSpPr>
          <p:nvPr/>
        </p:nvSpPr>
        <p:spPr>
          <a:xfrm>
            <a:off x="609600" y="3838575"/>
            <a:ext cx="5619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B9CCE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B9CCE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B9CCE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B9CCE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B9CCE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B9CCE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B9CCE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B9CCE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B9CCE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B9CCE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B9CCE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9CCE2"/>
                </a:solidFill>
                <a:latin typeface="Arial"/>
                <a:ea typeface="Arial"/>
                <a:cs typeface="Arial"/>
              </a:rPr>
              <a:t>Salas, equipos y seguimiento</a:t>
            </a:r>
            <a:br>
              <a:rPr sz="2250" b="0">
                <a:solidFill>
                  <a:srgbClr val="B9CCE2"/>
                </a:solidFill>
                <a:latin typeface="Arial"/>
                <a:ea typeface="Arial"/>
                <a:cs typeface="Arial"/>
              </a:rPr>
            </a:br>
            <a:r>
              <a:rPr sz="2250" b="0">
                <a:solidFill>
                  <a:srgbClr val="B9CCE2"/>
                </a:solidFill>
                <a:latin typeface="Arial"/>
                <a:ea typeface="Arial"/>
                <a:cs typeface="Arial"/>
              </a:rPr>
              <a:t>en un mismo sistema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DD0192C-EBFC-40E2-B6C6-C7C6B7D50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96075" y="1646696"/>
            <a:ext cx="4810125" cy="2707359"/>
          </a:xfrm>
          <a:prstGeom prst="rect">
            <a:avLst/>
          </a:prstGeom>
          <a:effectLst>
            <a:glow rad="60000">
              <a:srgbClr val="40DDE8">
                <a:alpha val="26000"/>
              </a:srgbClr>
            </a:glow>
            <a:outerShdw blurRad="95000" dist="35000" dir="5400000" rotWithShape="0">
              <a:srgbClr val="000000">
                <a:alpha val="33000"/>
              </a:srgbClr>
            </a:outerShdw>
          </a:effec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E068FF4-B6FE-4EDE-934E-2D6BC1950587}"/>
              </a:ext>
            </a:extLst>
          </p:cNvPr>
          <p:cNvSpPr>
            <a:spLocks noGrp="1"/>
          </p:cNvSpPr>
          <p:nvPr/>
        </p:nvSpPr>
        <p:spPr>
          <a:xfrm>
            <a:off x="609600" y="5114925"/>
            <a:ext cx="5715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7FF"/>
                </a:solidFill>
                <a:latin typeface="Arial"/>
                <a:ea typeface="Arial"/>
                <a:cs typeface="Arial"/>
              </a:rPr>
              <a:t>Avance de fase 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73DCD95-CC95-48D7-AD2C-5FE8C5D0DF04}"/>
              </a:ext>
            </a:extLst>
          </p:cNvPr>
          <p:cNvSpPr>
            <a:spLocks noGrp="1"/>
          </p:cNvSpPr>
          <p:nvPr/>
        </p:nvSpPr>
        <p:spPr>
          <a:xfrm>
            <a:off x="609600" y="570547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00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7FF"/>
                </a:solidFill>
                <a:latin typeface="Arial"/>
                <a:ea typeface="Arial"/>
                <a:cs typeface="Arial"/>
              </a:rPr>
              <a:t>Kevin Bustamante · Francisco Mancilla · Camilo Jacob</a:t>
            </a:r>
          </a:p>
        </p:txBody>
      </p:sp>
    </p:spTree>
    <p:extLst>
      <p:ext uri="{BB962C8B-B14F-4D97-AF65-F5344CB8AC3E}">
        <p14:creationId xmlns:p14="http://schemas.microsoft.com/office/powerpoint/2010/main" val="16587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D1B"/>
            </a:gs>
            <a:gs pos="55000">
              <a:srgbClr val="111932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9DF7600F-E577-4BA1-BF4F-FFFC7E7BEFA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Qué es SIGI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2BCFE0A-4FED-474B-8FF5-F4F8469F5D09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EB5CF"/>
                </a:solidFill>
                <a:latin typeface="Arial"/>
                <a:ea typeface="Arial"/>
                <a:cs typeface="Arial"/>
              </a:rPr>
              <a:t>02   SIGI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867E383-9E2B-4F10-AFD7-8BC32DEB83DC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106680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defPPr>
            <a:lvl1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1pPr>
            <a:lvl2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2pPr>
            <a:lvl3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3pPr>
            <a:lvl4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4pPr>
            <a:lvl5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5pPr>
            <a:lvl6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6pPr>
            <a:lvl7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7pPr>
            <a:lvl8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8pPr>
            <a:lvl9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pPr>
            <a:r>
              <a:rPr sz="3225" b="1">
                <a:solidFill>
                  <a:srgbClr val="50DDF3"/>
                </a:solidFill>
                <a:latin typeface="Bahnschrift"/>
                <a:ea typeface="Arial"/>
                <a:cs typeface="Arial"/>
              </a:rPr>
              <a:t>Una aplicación web para reportar fallas</a:t>
            </a:r>
            <a:br>
              <a:rPr sz="3225" b="1">
                <a:solidFill>
                  <a:srgbClr val="50DDF3"/>
                </a:solidFill>
                <a:latin typeface="Bahnschrift"/>
                <a:ea typeface="Arial"/>
                <a:cs typeface="Arial"/>
              </a:rPr>
            </a:br>
            <a:r>
              <a:rPr sz="3225" b="1">
                <a:solidFill>
                  <a:srgbClr val="50DDF3"/>
                </a:solidFill>
                <a:latin typeface="Bahnschrift"/>
                <a:ea typeface="Arial"/>
                <a:cs typeface="Arial"/>
              </a:rPr>
              <a:t>y seguir cómo se resuelven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8133A74-5483-4268-9F79-82591418C9C7}"/>
              </a:ext>
            </a:extLst>
          </p:cNvPr>
          <p:cNvSpPr>
            <a:spLocks noGrp="1"/>
          </p:cNvSpPr>
          <p:nvPr/>
        </p:nvSpPr>
        <p:spPr>
          <a:xfrm>
            <a:off x="609600" y="2962275"/>
            <a:ext cx="4572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391FF"/>
                </a:solidFill>
                <a:latin typeface="Arial"/>
                <a:ea typeface="Arial"/>
                <a:cs typeface="Arial"/>
              </a:rPr>
              <a:t>Profesor y personal autorizado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5E49401-6E65-4E99-8FD2-B2087E042549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43815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El equipo técnico recibe los reportes</a:t>
            </a:r>
            <a:br>
              <a:rPr sz="2175" b="0">
                <a:solidFill>
                  <a:srgbClr val="DDE8F7"/>
                </a:solidFill>
                <a:latin typeface="Arial"/>
                <a:ea typeface="Arial"/>
                <a:cs typeface="Arial"/>
              </a:rPr>
            </a:br>
            <a:r>
              <a:rPr sz="2175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y actualiza su estado.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ACEAF5E-ABAE-4834-A9D5-9877A4732852}"/>
              </a:ext>
            </a:extLst>
          </p:cNvPr>
          <p:cNvSpPr>
            <a:spLocks noGrp="1"/>
          </p:cNvSpPr>
          <p:nvPr/>
        </p:nvSpPr>
        <p:spPr>
          <a:xfrm>
            <a:off x="5715000" y="2962275"/>
            <a:ext cx="5810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1">
                <a:solidFill>
                  <a:srgbClr val="B391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391FF"/>
                </a:solidFill>
                <a:latin typeface="Arial"/>
                <a:ea typeface="Arial"/>
                <a:cs typeface="Arial"/>
              </a:rPr>
              <a:t>Ejemplo: un proyector no da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4F4B465-22BE-4E1A-88AC-2870F9437DFD}"/>
              </a:ext>
            </a:extLst>
          </p:cNvPr>
          <p:cNvSpPr>
            <a:spLocks noGrp="1"/>
          </p:cNvSpPr>
          <p:nvPr/>
        </p:nvSpPr>
        <p:spPr>
          <a:xfrm>
            <a:off x="5715000" y="3552825"/>
            <a:ext cx="5810250" cy="2247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01  El profesor registra la falla</a:t>
            </a:r>
            <a:br>
              <a:rPr sz="2175" b="0">
                <a:solidFill>
                  <a:srgbClr val="DDE8F7"/>
                </a:solidFill>
                <a:latin typeface="Arial"/>
                <a:ea typeface="Arial"/>
                <a:cs typeface="Arial"/>
              </a:rPr>
            </a:br>
            <a:br>
              <a:rPr sz="2175" b="0">
                <a:solidFill>
                  <a:srgbClr val="DDE8F7"/>
                </a:solidFill>
                <a:latin typeface="Arial"/>
                <a:ea typeface="Arial"/>
                <a:cs typeface="Arial"/>
              </a:rPr>
            </a:br>
            <a:r>
              <a:rPr sz="2175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02  El técnico atiende y resuelve</a:t>
            </a:r>
            <a:br>
              <a:rPr sz="2175" b="0">
                <a:solidFill>
                  <a:srgbClr val="DDE8F7"/>
                </a:solidFill>
                <a:latin typeface="Arial"/>
                <a:ea typeface="Arial"/>
                <a:cs typeface="Arial"/>
              </a:rPr>
            </a:br>
            <a:br>
              <a:rPr sz="2175" b="0">
                <a:solidFill>
                  <a:srgbClr val="DDE8F7"/>
                </a:solidFill>
                <a:latin typeface="Arial"/>
                <a:ea typeface="Arial"/>
                <a:cs typeface="Arial"/>
              </a:rPr>
            </a:br>
            <a:r>
              <a:rPr sz="2175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03  El profesor consulta el resultado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E0DC644-CD29-4AA4-BCA9-8AEA183461E8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EB5CF"/>
                </a:solidFill>
                <a:latin typeface="Arial"/>
                <a:ea typeface="Arial"/>
                <a:cs typeface="Arial"/>
              </a:rPr>
              <a:t>El historial conserva quién realizó cada acción y cuándo.</a:t>
            </a:r>
          </a:p>
        </p:txBody>
      </p:sp>
    </p:spTree>
    <p:extLst>
      <p:ext uri="{BB962C8B-B14F-4D97-AF65-F5344CB8AC3E}">
        <p14:creationId xmlns:p14="http://schemas.microsoft.com/office/powerpoint/2010/main" val="997548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D1B"/>
            </a:gs>
            <a:gs pos="55000">
              <a:srgbClr val="111932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8256FC0E-1CC1-44FC-A75E-C9B239C4B344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Problema que aborda el proyecto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0106A2A-48FF-4591-98A9-534F4D4C88C0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EB5CF"/>
                </a:solidFill>
                <a:latin typeface="Arial"/>
                <a:ea typeface="Arial"/>
                <a:cs typeface="Arial"/>
              </a:rPr>
              <a:t>03   SIGI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F8C8C52-4E83-4193-9A3A-CACB24E18243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1057275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defPPr>
            <a:lvl1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1pPr>
            <a:lvl2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2pPr>
            <a:lvl3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3pPr>
            <a:lvl4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4pPr>
            <a:lvl5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5pPr>
            <a:lvl6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6pPr>
            <a:lvl7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7pPr>
            <a:lvl8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8pPr>
            <a:lvl9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pPr>
            <a:r>
              <a:rPr sz="3225" b="1">
                <a:solidFill>
                  <a:srgbClr val="50DDF3"/>
                </a:solidFill>
                <a:latin typeface="Bahnschrift"/>
                <a:ea typeface="Arial"/>
                <a:cs typeface="Arial"/>
              </a:rPr>
              <a:t>Los avisos informales dificultan</a:t>
            </a:r>
            <a:br>
              <a:rPr sz="3225" b="1">
                <a:solidFill>
                  <a:srgbClr val="50DDF3"/>
                </a:solidFill>
                <a:latin typeface="Bahnschrift"/>
                <a:ea typeface="Arial"/>
                <a:cs typeface="Arial"/>
              </a:rPr>
            </a:br>
            <a:r>
              <a:rPr sz="3225" b="1">
                <a:solidFill>
                  <a:srgbClr val="50DDF3"/>
                </a:solidFill>
                <a:latin typeface="Bahnschrift"/>
                <a:ea typeface="Arial"/>
                <a:cs typeface="Arial"/>
              </a:rPr>
              <a:t>el seguimiento de las fallas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CAAEA6F-DD36-46D6-B622-214206D00271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3302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defPPr>
            <a:lvl1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1pPr>
            <a:lvl2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2pPr>
            <a:lvl3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3pPr>
            <a:lvl4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4pPr>
            <a:lvl5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5pPr>
            <a:lvl6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6pPr>
            <a:lvl7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7pPr>
            <a:lvl8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8pPr>
            <a:lvl9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pPr>
            <a:r>
              <a:rPr sz="3225" b="1">
                <a:solidFill>
                  <a:srgbClr val="B391FF"/>
                </a:solidFill>
                <a:latin typeface="Bahnschrift"/>
                <a:ea typeface="Arial"/>
                <a:cs typeface="Arial"/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377D9F0-FEC7-4F49-9236-5FA8E283F7B7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3302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Información dispersa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144B4D3-2D26-4F47-8F4E-A683C65609B0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33020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Los reportes pueden quedar repartidos entre conversaciones, mensajes y correos.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FB3E748-5084-4AC0-A8CF-C67C81474A5B}"/>
              </a:ext>
            </a:extLst>
          </p:cNvPr>
          <p:cNvSpPr>
            <a:spLocks noGrp="1"/>
          </p:cNvSpPr>
          <p:nvPr/>
        </p:nvSpPr>
        <p:spPr>
          <a:xfrm>
            <a:off x="4292600" y="2914650"/>
            <a:ext cx="3302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defPPr>
            <a:lvl1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1pPr>
            <a:lvl2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2pPr>
            <a:lvl3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3pPr>
            <a:lvl4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4pPr>
            <a:lvl5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5pPr>
            <a:lvl6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6pPr>
            <a:lvl7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7pPr>
            <a:lvl8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8pPr>
            <a:lvl9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pPr>
            <a:r>
              <a:rPr sz="3225" b="1">
                <a:solidFill>
                  <a:srgbClr val="B391FF"/>
                </a:solidFill>
                <a:latin typeface="Bahnschrift"/>
                <a:ea typeface="Arial"/>
                <a:cs typeface="Arial"/>
              </a:rPr>
              <a:t>02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D96EE65-1FAE-4379-A523-89EBBE30431F}"/>
              </a:ext>
            </a:extLst>
          </p:cNvPr>
          <p:cNvSpPr>
            <a:spLocks noGrp="1"/>
          </p:cNvSpPr>
          <p:nvPr/>
        </p:nvSpPr>
        <p:spPr>
          <a:xfrm>
            <a:off x="4292600" y="3543300"/>
            <a:ext cx="3302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Seguimiento limitado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EDD1447-D643-423F-8858-F6F31E1B77F8}"/>
              </a:ext>
            </a:extLst>
          </p:cNvPr>
          <p:cNvSpPr>
            <a:spLocks noGrp="1"/>
          </p:cNvSpPr>
          <p:nvPr/>
        </p:nvSpPr>
        <p:spPr>
          <a:xfrm>
            <a:off x="4292600" y="4438650"/>
            <a:ext cx="33020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Resulta difícil conocer el estado, el responsable y los antecedentes de una incidencia.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5EE0E4D-A4FD-4073-ABB5-1167CFE00F78}"/>
              </a:ext>
            </a:extLst>
          </p:cNvPr>
          <p:cNvSpPr>
            <a:spLocks noGrp="1"/>
          </p:cNvSpPr>
          <p:nvPr/>
        </p:nvSpPr>
        <p:spPr>
          <a:xfrm>
            <a:off x="7975600" y="2914650"/>
            <a:ext cx="3302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defPPr>
            <a:lvl1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1pPr>
            <a:lvl2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2pPr>
            <a:lvl3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3pPr>
            <a:lvl4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4pPr>
            <a:lvl5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5pPr>
            <a:lvl6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6pPr>
            <a:lvl7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7pPr>
            <a:lvl8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8pPr>
            <a:lvl9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pPr>
            <a:r>
              <a:rPr sz="3225" b="1">
                <a:solidFill>
                  <a:srgbClr val="B391FF"/>
                </a:solidFill>
                <a:latin typeface="Bahnschrift"/>
                <a:ea typeface="Arial"/>
                <a:cs typeface="Arial"/>
              </a:rPr>
              <a:t>03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74607DD-B757-4C03-AFB1-4DA6967075BD}"/>
              </a:ext>
            </a:extLst>
          </p:cNvPr>
          <p:cNvSpPr>
            <a:spLocks noGrp="1"/>
          </p:cNvSpPr>
          <p:nvPr/>
        </p:nvSpPr>
        <p:spPr>
          <a:xfrm>
            <a:off x="7975600" y="3543300"/>
            <a:ext cx="3302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Decisiones de mantenimiento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64753E9-37B5-4464-9EC5-5571FF76422A}"/>
              </a:ext>
            </a:extLst>
          </p:cNvPr>
          <p:cNvSpPr>
            <a:spLocks noGrp="1"/>
          </p:cNvSpPr>
          <p:nvPr/>
        </p:nvSpPr>
        <p:spPr>
          <a:xfrm>
            <a:off x="7975600" y="4438650"/>
            <a:ext cx="33020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Se necesita información organizada para revisar prioridades y recurrencia de problemas.</a:t>
            </a:r>
          </a:p>
        </p:txBody>
      </p:sp>
    </p:spTree>
    <p:extLst>
      <p:ext uri="{BB962C8B-B14F-4D97-AF65-F5344CB8AC3E}">
        <p14:creationId xmlns:p14="http://schemas.microsoft.com/office/powerpoint/2010/main" val="2056961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B18"/>
            </a:gs>
            <a:gs pos="55000">
              <a:srgbClr val="191537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8B6A7A83-7D2F-43A7-AE35-ACAEFC36B3C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Solución propuesta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907A70F-5250-4F52-87B2-1C6CEFA82E04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EB5CF"/>
                </a:solidFill>
                <a:latin typeface="Arial"/>
                <a:ea typeface="Arial"/>
                <a:cs typeface="Arial"/>
              </a:rPr>
              <a:t>04   SIGI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6322C4B-4B40-42E7-8A25-8D0621F810E9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810875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50DDF3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50DDF3"/>
                </a:solidFill>
                <a:latin typeface="Bahnschrift"/>
                <a:ea typeface="Arial"/>
                <a:cs typeface="Arial"/>
              </a:rPr>
              <a:t>Una plataforma web para registrar</a:t>
            </a:r>
            <a:br>
              <a:rPr sz="3300" b="1">
                <a:solidFill>
                  <a:srgbClr val="50DDF3"/>
                </a:solidFill>
                <a:latin typeface="Bahnschrift"/>
                <a:ea typeface="Arial"/>
                <a:cs typeface="Arial"/>
              </a:rPr>
            </a:br>
            <a:r>
              <a:rPr sz="3300" b="1">
                <a:solidFill>
                  <a:srgbClr val="50DDF3"/>
                </a:solidFill>
                <a:latin typeface="Bahnschrift"/>
                <a:ea typeface="Arial"/>
                <a:cs typeface="Arial"/>
              </a:rPr>
              <a:t>y gestionar incidencias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89FD199-02A9-40C0-B4E5-67C28BB0E0CC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3302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defPPr>
            <a:lvl1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1pPr>
            <a:lvl2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2pPr>
            <a:lvl3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3pPr>
            <a:lvl4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4pPr>
            <a:lvl5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5pPr>
            <a:lvl6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6pPr>
            <a:lvl7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7pPr>
            <a:lvl8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8pPr>
            <a:lvl9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pPr>
            <a:r>
              <a:rPr sz="3225" b="1">
                <a:solidFill>
                  <a:srgbClr val="B391FF"/>
                </a:solidFill>
                <a:latin typeface="Bahnschrift"/>
                <a:ea typeface="Arial"/>
                <a:cs typeface="Arial"/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309EBAF-85A8-4BCB-AB45-2342A9A864DA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3302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Registro por ubicación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D9646A1-EB83-401C-9D88-6E6331E2C504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33020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Sala, equipo, categoría, prioridad y descripción del problema.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02498F4-108F-43E5-AFE0-BCE25FBDF497}"/>
              </a:ext>
            </a:extLst>
          </p:cNvPr>
          <p:cNvSpPr>
            <a:spLocks noGrp="1"/>
          </p:cNvSpPr>
          <p:nvPr/>
        </p:nvSpPr>
        <p:spPr>
          <a:xfrm>
            <a:off x="4292600" y="2800350"/>
            <a:ext cx="3302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defPPr>
            <a:lvl1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1pPr>
            <a:lvl2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2pPr>
            <a:lvl3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3pPr>
            <a:lvl4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4pPr>
            <a:lvl5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5pPr>
            <a:lvl6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6pPr>
            <a:lvl7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7pPr>
            <a:lvl8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8pPr>
            <a:lvl9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pPr>
            <a:r>
              <a:rPr sz="3225" b="1">
                <a:solidFill>
                  <a:srgbClr val="B391FF"/>
                </a:solidFill>
                <a:latin typeface="Bahnschrift"/>
                <a:ea typeface="Arial"/>
                <a:cs typeface="Arial"/>
              </a:rPr>
              <a:t>02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9D1D9EF-9ED5-4E40-9814-168A5B66A95D}"/>
              </a:ext>
            </a:extLst>
          </p:cNvPr>
          <p:cNvSpPr>
            <a:spLocks noGrp="1"/>
          </p:cNvSpPr>
          <p:nvPr/>
        </p:nvSpPr>
        <p:spPr>
          <a:xfrm>
            <a:off x="4292600" y="3429000"/>
            <a:ext cx="3302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Gestión técnica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5AA880B-A716-47DA-B193-84F0EDAF1C03}"/>
              </a:ext>
            </a:extLst>
          </p:cNvPr>
          <p:cNvSpPr>
            <a:spLocks noGrp="1"/>
          </p:cNvSpPr>
          <p:nvPr/>
        </p:nvSpPr>
        <p:spPr>
          <a:xfrm>
            <a:off x="4292600" y="4324350"/>
            <a:ext cx="33020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Atención, resolución y consulta de los movimientos del reporte.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DE6B8FD-6B5D-4C0A-8FF4-2D53E0122BAE}"/>
              </a:ext>
            </a:extLst>
          </p:cNvPr>
          <p:cNvSpPr>
            <a:spLocks noGrp="1"/>
          </p:cNvSpPr>
          <p:nvPr/>
        </p:nvSpPr>
        <p:spPr>
          <a:xfrm>
            <a:off x="7975600" y="2800350"/>
            <a:ext cx="3302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defPPr>
            <a:lvl1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1pPr>
            <a:lvl2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2pPr>
            <a:lvl3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3pPr>
            <a:lvl4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4pPr>
            <a:lvl5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5pPr>
            <a:lvl6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6pPr>
            <a:lvl7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7pPr>
            <a:lvl8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8pPr>
            <a:lvl9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pPr>
            <a:r>
              <a:rPr sz="3225" b="1">
                <a:solidFill>
                  <a:srgbClr val="B391FF"/>
                </a:solidFill>
                <a:latin typeface="Bahnschrift"/>
                <a:ea typeface="Arial"/>
                <a:cs typeface="Arial"/>
              </a:rPr>
              <a:t>03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59C6F98-58A2-4A54-A06E-78C77208938C}"/>
              </a:ext>
            </a:extLst>
          </p:cNvPr>
          <p:cNvSpPr>
            <a:spLocks noGrp="1"/>
          </p:cNvSpPr>
          <p:nvPr/>
        </p:nvSpPr>
        <p:spPr>
          <a:xfrm>
            <a:off x="7975600" y="3429000"/>
            <a:ext cx="3302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Identificación con QR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4C93A7C-4B23-4E15-8499-3454E3B69EDE}"/>
              </a:ext>
            </a:extLst>
          </p:cNvPr>
          <p:cNvSpPr>
            <a:spLocks noGrp="1"/>
          </p:cNvSpPr>
          <p:nvPr/>
        </p:nvSpPr>
        <p:spPr>
          <a:xfrm>
            <a:off x="7975600" y="4324350"/>
            <a:ext cx="33020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Acceso al formulario con la sala seleccionada. Alertas y Power BI continúan en desarrollo.</a:t>
            </a:r>
          </a:p>
        </p:txBody>
      </p:sp>
    </p:spTree>
    <p:extLst>
      <p:ext uri="{BB962C8B-B14F-4D97-AF65-F5344CB8AC3E}">
        <p14:creationId xmlns:p14="http://schemas.microsoft.com/office/powerpoint/2010/main" val="220783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D1B"/>
            </a:gs>
            <a:gs pos="55000">
              <a:srgbClr val="111932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2C08ABDF-61A7-4B1E-8B71-EBE1684F04F7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Objetivos del proyecto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4014DC1-78F5-4066-A2DF-3ACDF14E4C7E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EB5CF"/>
                </a:solidFill>
                <a:latin typeface="Arial"/>
                <a:ea typeface="Arial"/>
                <a:cs typeface="Arial"/>
              </a:rPr>
              <a:t>05   SIGI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C13BE9F-F63E-4EA2-B32E-90292E23A0FC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668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9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9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Centralizar las incidencias y mejorar su trazabilidad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ADD0599-C4A1-448B-8406-42BCC36E93E4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498157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01  Base de datos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1CCDBC5-E20F-4413-B0B6-9B16D62AA7D4}"/>
              </a:ext>
            </a:extLst>
          </p:cNvPr>
          <p:cNvSpPr>
            <a:spLocks noGrp="1"/>
          </p:cNvSpPr>
          <p:nvPr/>
        </p:nvSpPr>
        <p:spPr>
          <a:xfrm>
            <a:off x="609600" y="3190875"/>
            <a:ext cx="4981575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Organizar usuarios, ubicaciones, equipos, incidencias, alertas e historial.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253BA78-B0F6-44D7-B096-FF2C37170A78}"/>
              </a:ext>
            </a:extLst>
          </p:cNvPr>
          <p:cNvSpPr>
            <a:spLocks noGrp="1"/>
          </p:cNvSpPr>
          <p:nvPr/>
        </p:nvSpPr>
        <p:spPr>
          <a:xfrm>
            <a:off x="6296025" y="2419350"/>
            <a:ext cx="498157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02  Aplicación web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A31A27A-E9CA-4CCA-94BC-F8E4BB2D8FC3}"/>
              </a:ext>
            </a:extLst>
          </p:cNvPr>
          <p:cNvSpPr>
            <a:spLocks noGrp="1"/>
          </p:cNvSpPr>
          <p:nvPr/>
        </p:nvSpPr>
        <p:spPr>
          <a:xfrm>
            <a:off x="6296025" y="3190875"/>
            <a:ext cx="4981575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Registrar, consultar y gestionar reportes con acceso por rol.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D12673-949A-4B04-AD65-49A2D9173DD6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498157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03  QR y alertas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F034578-3002-44C1-AA46-BC0B5E5D81BA}"/>
              </a:ext>
            </a:extLst>
          </p:cNvPr>
          <p:cNvSpPr>
            <a:spLocks noGrp="1"/>
          </p:cNvSpPr>
          <p:nvPr/>
        </p:nvSpPr>
        <p:spPr>
          <a:xfrm>
            <a:off x="609600" y="5133975"/>
            <a:ext cx="4981575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Identificar salas y desarrollar el mecanismo de alerta interna.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A9FB04E-4603-4CA2-962D-AEA413AA898C}"/>
              </a:ext>
            </a:extLst>
          </p:cNvPr>
          <p:cNvSpPr>
            <a:spLocks noGrp="1"/>
          </p:cNvSpPr>
          <p:nvPr/>
        </p:nvSpPr>
        <p:spPr>
          <a:xfrm>
            <a:off x="6296025" y="4362450"/>
            <a:ext cx="498157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04  Validación e indicadores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BDEF045-389E-4C65-848A-3166EA53D091}"/>
              </a:ext>
            </a:extLst>
          </p:cNvPr>
          <p:cNvSpPr>
            <a:spLocks noGrp="1"/>
          </p:cNvSpPr>
          <p:nvPr/>
        </p:nvSpPr>
        <p:spPr>
          <a:xfrm>
            <a:off x="6296025" y="5133975"/>
            <a:ext cx="4981575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Probar el sistema y preparar indicadores y reportería.</a:t>
            </a:r>
          </a:p>
        </p:txBody>
      </p:sp>
    </p:spTree>
    <p:extLst>
      <p:ext uri="{BB962C8B-B14F-4D97-AF65-F5344CB8AC3E}">
        <p14:creationId xmlns:p14="http://schemas.microsoft.com/office/powerpoint/2010/main" val="397333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D1B"/>
            </a:gs>
            <a:gs pos="55000">
              <a:srgbClr val="111932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7DCA9BE1-3BCA-454B-95D8-F1F6C67777C8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Organización del equipo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7B53934-578D-4F30-BCD4-CB4300B65773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EB5CF"/>
                </a:solidFill>
                <a:latin typeface="Arial"/>
                <a:ea typeface="Arial"/>
                <a:cs typeface="Arial"/>
              </a:rPr>
              <a:t>06   SIGI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34D1B34-77CD-42B7-9E0B-DD6E112D3302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323850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defPPr>
            <a:lvl1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1pPr>
            <a:lvl2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2pPr>
            <a:lvl3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3pPr>
            <a:lvl4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4pPr>
            <a:lvl5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5pPr>
            <a:lvl6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6pPr>
            <a:lvl7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7pPr>
            <a:lvl8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8pPr>
            <a:lvl9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pPr>
            <a:r>
              <a:rPr sz="4125" b="1">
                <a:solidFill>
                  <a:srgbClr val="B391FF"/>
                </a:solidFill>
                <a:latin typeface="Bahnschrift"/>
                <a:ea typeface="Arial"/>
                <a:cs typeface="Arial"/>
              </a:rPr>
              <a:t>01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D696D04-6B1E-4917-9046-98ABD7D74B16}"/>
              </a:ext>
            </a:extLst>
          </p:cNvPr>
          <p:cNvSpPr>
            <a:spLocks noGrp="1"/>
          </p:cNvSpPr>
          <p:nvPr/>
        </p:nvSpPr>
        <p:spPr>
          <a:xfrm>
            <a:off x="609600" y="2514600"/>
            <a:ext cx="3238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3F7FF"/>
                </a:solidFill>
                <a:latin typeface="Arial"/>
                <a:ea typeface="Arial"/>
                <a:cs typeface="Arial"/>
              </a:rPr>
              <a:t>Kevin</a:t>
            </a:r>
            <a:br>
              <a:rPr sz="2775" b="1">
                <a:solidFill>
                  <a:srgbClr val="F3F7FF"/>
                </a:solidFill>
                <a:latin typeface="Arial"/>
                <a:ea typeface="Arial"/>
                <a:cs typeface="Arial"/>
              </a:rPr>
            </a:br>
            <a:r>
              <a:rPr sz="2775" b="1">
                <a:solidFill>
                  <a:srgbClr val="F3F7FF"/>
                </a:solidFill>
                <a:latin typeface="Arial"/>
                <a:ea typeface="Arial"/>
                <a:cs typeface="Arial"/>
              </a:rPr>
              <a:t>Bustamante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3157794-1ED2-47FA-B0F6-FA3A716DF0F4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3238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Backend y API</a:t>
            </a:r>
            <a:br>
              <a:rPr sz="2100" b="0">
                <a:solidFill>
                  <a:srgbClr val="DDE8F7"/>
                </a:solidFill>
                <a:latin typeface="Arial"/>
                <a:ea typeface="Arial"/>
                <a:cs typeface="Arial"/>
              </a:rPr>
            </a:br>
            <a:r>
              <a:rPr sz="210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QR, alertas y pruebas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24AC95D-C4ED-4946-B01B-90A812EBD925}"/>
              </a:ext>
            </a:extLst>
          </p:cNvPr>
          <p:cNvSpPr>
            <a:spLocks noGrp="1"/>
          </p:cNvSpPr>
          <p:nvPr/>
        </p:nvSpPr>
        <p:spPr>
          <a:xfrm>
            <a:off x="4343400" y="1657350"/>
            <a:ext cx="323850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defPPr>
            <a:lvl1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1pPr>
            <a:lvl2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2pPr>
            <a:lvl3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3pPr>
            <a:lvl4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4pPr>
            <a:lvl5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5pPr>
            <a:lvl6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6pPr>
            <a:lvl7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7pPr>
            <a:lvl8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8pPr>
            <a:lvl9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pPr>
            <a:r>
              <a:rPr sz="4125" b="1">
                <a:solidFill>
                  <a:srgbClr val="B391FF"/>
                </a:solidFill>
                <a:latin typeface="Bahnschrift"/>
                <a:ea typeface="Arial"/>
                <a:cs typeface="Arial"/>
              </a:rPr>
              <a:t>02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25F5943-C2FF-4647-9A92-C4C574103E42}"/>
              </a:ext>
            </a:extLst>
          </p:cNvPr>
          <p:cNvSpPr>
            <a:spLocks noGrp="1"/>
          </p:cNvSpPr>
          <p:nvPr/>
        </p:nvSpPr>
        <p:spPr>
          <a:xfrm>
            <a:off x="4343400" y="2514600"/>
            <a:ext cx="3238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3F7FF"/>
                </a:solidFill>
                <a:latin typeface="Arial"/>
                <a:ea typeface="Arial"/>
                <a:cs typeface="Arial"/>
              </a:rPr>
              <a:t>Francisco</a:t>
            </a:r>
            <a:br>
              <a:rPr sz="2775" b="1">
                <a:solidFill>
                  <a:srgbClr val="F3F7FF"/>
                </a:solidFill>
                <a:latin typeface="Arial"/>
                <a:ea typeface="Arial"/>
                <a:cs typeface="Arial"/>
              </a:rPr>
            </a:br>
            <a:r>
              <a:rPr sz="2775" b="1">
                <a:solidFill>
                  <a:srgbClr val="F3F7FF"/>
                </a:solidFill>
                <a:latin typeface="Arial"/>
                <a:ea typeface="Arial"/>
                <a:cs typeface="Arial"/>
              </a:rPr>
              <a:t>Mancilla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B01F1F6-D4C2-4F73-AC15-B42402E761CB}"/>
              </a:ext>
            </a:extLst>
          </p:cNvPr>
          <p:cNvSpPr>
            <a:spLocks noGrp="1"/>
          </p:cNvSpPr>
          <p:nvPr/>
        </p:nvSpPr>
        <p:spPr>
          <a:xfrm>
            <a:off x="4343400" y="3781425"/>
            <a:ext cx="3238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Interfaz web</a:t>
            </a:r>
            <a:br>
              <a:rPr sz="2100" b="0">
                <a:solidFill>
                  <a:srgbClr val="DDE8F7"/>
                </a:solidFill>
                <a:latin typeface="Arial"/>
                <a:ea typeface="Arial"/>
                <a:cs typeface="Arial"/>
              </a:rPr>
            </a:br>
            <a:r>
              <a:rPr sz="210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Adaptación a dispositivos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55483E1-54ED-4423-8648-16B9078E9766}"/>
              </a:ext>
            </a:extLst>
          </p:cNvPr>
          <p:cNvSpPr>
            <a:spLocks noGrp="1"/>
          </p:cNvSpPr>
          <p:nvPr/>
        </p:nvSpPr>
        <p:spPr>
          <a:xfrm>
            <a:off x="8077200" y="1657350"/>
            <a:ext cx="323850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defPPr>
            <a:lvl1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1pPr>
            <a:lvl2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2pPr>
            <a:lvl3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3pPr>
            <a:lvl4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4pPr>
            <a:lvl5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5pPr>
            <a:lvl6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6pPr>
            <a:lvl7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7pPr>
            <a:lvl8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8pPr>
            <a:lvl9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41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pPr>
            <a:r>
              <a:rPr sz="4125" b="1">
                <a:solidFill>
                  <a:srgbClr val="B391FF"/>
                </a:solidFill>
                <a:latin typeface="Bahnschrift"/>
                <a:ea typeface="Arial"/>
                <a:cs typeface="Arial"/>
              </a:rPr>
              <a:t>03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E2AD744-91D4-4F94-A591-23FC802C0CEB}"/>
              </a:ext>
            </a:extLst>
          </p:cNvPr>
          <p:cNvSpPr>
            <a:spLocks noGrp="1"/>
          </p:cNvSpPr>
          <p:nvPr/>
        </p:nvSpPr>
        <p:spPr>
          <a:xfrm>
            <a:off x="8077200" y="2514600"/>
            <a:ext cx="3238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775" b="1">
                <a:solidFill>
                  <a:srgbClr val="F3F7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3F7FF"/>
                </a:solidFill>
                <a:latin typeface="Arial"/>
                <a:ea typeface="Arial"/>
                <a:cs typeface="Arial"/>
              </a:rPr>
              <a:t>Camilo</a:t>
            </a:r>
            <a:br>
              <a:rPr sz="2775" b="1">
                <a:solidFill>
                  <a:srgbClr val="F3F7FF"/>
                </a:solidFill>
                <a:latin typeface="Arial"/>
                <a:ea typeface="Arial"/>
                <a:cs typeface="Arial"/>
              </a:rPr>
            </a:br>
            <a:r>
              <a:rPr sz="2775" b="1">
                <a:solidFill>
                  <a:srgbClr val="F3F7FF"/>
                </a:solidFill>
                <a:latin typeface="Arial"/>
                <a:ea typeface="Arial"/>
                <a:cs typeface="Arial"/>
              </a:rPr>
              <a:t>Jacob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3B7277D-0EEF-4605-95DA-125F1E05B459}"/>
              </a:ext>
            </a:extLst>
          </p:cNvPr>
          <p:cNvSpPr>
            <a:spLocks noGrp="1"/>
          </p:cNvSpPr>
          <p:nvPr/>
        </p:nvSpPr>
        <p:spPr>
          <a:xfrm>
            <a:off x="8077200" y="3781425"/>
            <a:ext cx="3238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Base de datos</a:t>
            </a:r>
            <a:br>
              <a:rPr sz="2100" b="0">
                <a:solidFill>
                  <a:srgbClr val="DDE8F7"/>
                </a:solidFill>
                <a:latin typeface="Arial"/>
                <a:ea typeface="Arial"/>
                <a:cs typeface="Arial"/>
              </a:rPr>
            </a:br>
            <a:r>
              <a:rPr sz="210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Indicadores y Power BI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DFF217E-9312-4737-AC06-0DB66F07281C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La integración y la documentación involucran a todo el equipo.</a:t>
            </a:r>
          </a:p>
        </p:txBody>
      </p:sp>
    </p:spTree>
    <p:extLst>
      <p:ext uri="{BB962C8B-B14F-4D97-AF65-F5344CB8AC3E}">
        <p14:creationId xmlns:p14="http://schemas.microsoft.com/office/powerpoint/2010/main" val="440429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B18"/>
            </a:gs>
            <a:gs pos="55000">
              <a:srgbClr val="191537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1ECBC99-6B45-41C9-928B-412CA4FDFE7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Arquitectura del sistema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1451139-AABB-43EB-B02D-0C223847297E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EB5CF"/>
                </a:solidFill>
                <a:latin typeface="Arial"/>
                <a:ea typeface="Arial"/>
                <a:cs typeface="Arial"/>
              </a:rPr>
              <a:t>07   SIGI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71B8E4D-2485-4803-93C4-BE9AE82DC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783292"/>
            <a:ext cx="11049000" cy="3253317"/>
          </a:xfrm>
          <a:prstGeom prst="rect">
            <a:avLst/>
          </a:prstGeom>
          <a:effectLst>
            <a:glow rad="60000">
              <a:srgbClr val="40DDE8">
                <a:alpha val="26000"/>
              </a:srgbClr>
            </a:glow>
            <a:outerShdw blurRad="95000" dist="35000" dir="5400000" rotWithShape="0">
              <a:srgbClr val="000000">
                <a:alpha val="33000"/>
              </a:srgbClr>
            </a:outerShdw>
          </a:effec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DAE0CA0-7FDB-47D5-8589-9B24B207317D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React y Vite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754A2DB-7891-4712-ABD5-A4BF464498DC}"/>
              </a:ext>
            </a:extLst>
          </p:cNvPr>
          <p:cNvSpPr>
            <a:spLocks noGrp="1"/>
          </p:cNvSpPr>
          <p:nvPr/>
        </p:nvSpPr>
        <p:spPr>
          <a:xfrm>
            <a:off x="4448175" y="5257800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Node.js y Express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8B42D52-FE9C-4AED-9669-CE21393E290D}"/>
              </a:ext>
            </a:extLst>
          </p:cNvPr>
          <p:cNvSpPr>
            <a:spLocks noGrp="1"/>
          </p:cNvSpPr>
          <p:nvPr/>
        </p:nvSpPr>
        <p:spPr>
          <a:xfrm>
            <a:off x="8286750" y="525780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</p:spTree>
    <p:extLst>
      <p:ext uri="{BB962C8B-B14F-4D97-AF65-F5344CB8AC3E}">
        <p14:creationId xmlns:p14="http://schemas.microsoft.com/office/powerpoint/2010/main" val="1013921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D1B"/>
            </a:gs>
            <a:gs pos="55000">
              <a:srgbClr val="111932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D938844A-AAD7-49CA-8FE8-A9A1A00F7CF8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Modelo de datos y trazabilidad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9523A81-1B6F-4AC5-B520-F1BC02B3B3B3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EB5CF"/>
                </a:solidFill>
                <a:latin typeface="Arial"/>
                <a:ea typeface="Arial"/>
                <a:cs typeface="Arial"/>
              </a:rPr>
              <a:t>08   SIGI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C020BEA-564C-4D23-8591-1366106D302B}"/>
              </a:ext>
            </a:extLst>
          </p:cNvPr>
          <p:cNvGraphicFramePr/>
          <p:nvPr/>
        </p:nvGraphicFramePr>
        <p:xfrm>
          <a:off x="609600" y="1657350"/>
          <a:ext cx="10953750" cy="3829050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8ECF0"/>
                          </a:solidFill>
                          <a:latin typeface="Arial"/>
                          <a:ea typeface="Arial"/>
                          <a:cs typeface="Arial"/>
                        </a:rPr>
                        <a:t>Entidad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>
                      <a:solidFill>
                        <a:srgbClr val="294C69"/>
                      </a:solidFill>
                      <a:prstDash val="soli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834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8ECF0"/>
                          </a:solidFill>
                          <a:latin typeface="Arial"/>
                          <a:ea typeface="Arial"/>
                          <a:cs typeface="Arial"/>
                        </a:rPr>
                        <a:t>Relación o propósito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>
                      <a:solidFill>
                        <a:srgbClr val="294C69"/>
                      </a:solidFill>
                      <a:prstDash val="soli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83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Usuarios y roles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Identidad, sesión y permisos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Edificios, pisos y salas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Ubicación de la incidencia y código QR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Equipos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Activo asociado a una sala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Incidencias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Reporte, prioridad, estado y responsable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Historial de incidencias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Movimientos, estados, fecha y comentarios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652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D1B"/>
            </a:gs>
            <a:gs pos="55000">
              <a:srgbClr val="111932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9E66FFCF-F9DA-4D75-A74A-A972BCB6C97E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Las 16 tablas de la base de datos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051B25D-7E2C-4AF0-B4E7-186A184C9464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EB5CF"/>
                </a:solidFill>
                <a:latin typeface="Arial"/>
                <a:ea typeface="Arial"/>
                <a:cs typeface="Arial"/>
              </a:rPr>
              <a:t>09   SIGI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992DFBA-53C8-4674-99F3-A88E7F1A95DE}"/>
              </a:ext>
            </a:extLst>
          </p:cNvPr>
          <p:cNvGraphicFramePr/>
          <p:nvPr/>
        </p:nvGraphicFramePr>
        <p:xfrm>
          <a:off x="609600" y="1695450"/>
          <a:ext cx="10953750" cy="3686175"/>
        </p:xfrm>
        <a:graphic>
          <a:graphicData uri="http://schemas.openxmlformats.org/drawingml/2006/table">
            <a:tbl>
              <a:tblPr/>
              <a:tblGrid>
                <a:gridCol w="347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723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8ECF0"/>
                          </a:solidFill>
                          <a:latin typeface="Arial"/>
                          <a:ea typeface="Arial"/>
                          <a:cs typeface="Arial"/>
                        </a:rPr>
                        <a:t>Área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>
                      <a:solidFill>
                        <a:srgbClr val="294C69"/>
                      </a:solidFill>
                      <a:prstDash val="soli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834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8ECF0"/>
                          </a:solidFill>
                          <a:latin typeface="Arial"/>
                          <a:ea typeface="Arial"/>
                          <a:cs typeface="Arial"/>
                        </a:rPr>
                        <a:t>Tablas del esquema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>
                      <a:solidFill>
                        <a:srgbClr val="294C69"/>
                      </a:solidFill>
                      <a:prstDash val="soli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83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2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Acceso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usuarios, roles, correos_autorizados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2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Ubicaciones y equipos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edificios, pisos, salas, equipos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2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Incidencias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incidencias, historial_incidencias, estados_incidencia, prioridades, categorias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2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Alertas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alertas, historial_alertas, estados_alerta, tipos_emergencia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848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B18"/>
            </a:gs>
            <a:gs pos="55000">
              <a:srgbClr val="191537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1C8D768-FE15-4BCE-916A-A9B8243F92E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Tablas de usuarios y acceso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6291309-2720-4615-BBA2-03DD53582CEC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EB5CF"/>
                </a:solidFill>
                <a:latin typeface="Arial"/>
                <a:ea typeface="Arial"/>
                <a:cs typeface="Arial"/>
              </a:rPr>
              <a:t>10   SIGI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5EB8F8B-13CC-4BF5-BE10-AA972C711F91}"/>
              </a:ext>
            </a:extLst>
          </p:cNvPr>
          <p:cNvGraphicFramePr/>
          <p:nvPr/>
        </p:nvGraphicFramePr>
        <p:xfrm>
          <a:off x="609600" y="1714500"/>
          <a:ext cx="3429000" cy="368617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78ECF0"/>
                          </a:solidFill>
                          <a:latin typeface="Arial"/>
                          <a:ea typeface="Arial"/>
                          <a:cs typeface="Arial"/>
                        </a:rPr>
                        <a:t>usuarios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>
                      <a:solidFill>
                        <a:srgbClr val="294C69"/>
                      </a:solidFill>
                      <a:prstDash val="soli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83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id_usuario  PK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nombre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apellido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correo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password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id_rol  FK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activo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fecha_creacion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33303C2-3315-46A7-8FAE-074F6C4CD02C}"/>
              </a:ext>
            </a:extLst>
          </p:cNvPr>
          <p:cNvGraphicFramePr/>
          <p:nvPr/>
        </p:nvGraphicFramePr>
        <p:xfrm>
          <a:off x="4343400" y="1714500"/>
          <a:ext cx="3238500" cy="163830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78ECF0"/>
                          </a:solidFill>
                          <a:latin typeface="Arial"/>
                          <a:ea typeface="Arial"/>
                          <a:cs typeface="Arial"/>
                        </a:rPr>
                        <a:t>roles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>
                      <a:solidFill>
                        <a:srgbClr val="294C69"/>
                      </a:solidFill>
                      <a:prstDash val="soli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83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id_rol  PK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nombre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descripcion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6549BC0-A6FA-4413-A8F6-0D31198D1773}"/>
              </a:ext>
            </a:extLst>
          </p:cNvPr>
          <p:cNvGraphicFramePr/>
          <p:nvPr/>
        </p:nvGraphicFramePr>
        <p:xfrm>
          <a:off x="7886700" y="1714500"/>
          <a:ext cx="3695700" cy="2457450"/>
        </p:xfrm>
        <a:graphic>
          <a:graphicData uri="http://schemas.openxmlformats.org/drawingml/2006/table">
            <a:tbl>
              <a:tblPr/>
              <a:tblGrid>
                <a:gridCol w="369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78ECF0"/>
                          </a:solidFill>
                          <a:latin typeface="Arial"/>
                          <a:ea typeface="Arial"/>
                          <a:cs typeface="Arial"/>
                        </a:rPr>
                        <a:t>correos_autorizados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>
                      <a:solidFill>
                        <a:srgbClr val="294C69"/>
                      </a:solidFill>
                      <a:prstDash val="soli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83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id_autorizacion  PK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correo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id_rol  FK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activo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fecha_creacion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596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D1B"/>
            </a:gs>
            <a:gs pos="55000">
              <a:srgbClr val="111932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4F6F659C-0020-4370-A2EB-3015F85A254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Tablas de ubicaciones y equipos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7270336-F5AB-4068-8F3A-7352855F1DD8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EB5CF"/>
                </a:solidFill>
                <a:latin typeface="Arial"/>
                <a:ea typeface="Arial"/>
                <a:cs typeface="Arial"/>
              </a:rPr>
              <a:t>11   SIGI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B7D39AC-06EA-48D6-943E-F09D8BFA0B23}"/>
              </a:ext>
            </a:extLst>
          </p:cNvPr>
          <p:cNvGraphicFramePr/>
          <p:nvPr/>
        </p:nvGraphicFramePr>
        <p:xfrm>
          <a:off x="609600" y="1695450"/>
          <a:ext cx="2590800" cy="1638300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8ECF0"/>
                          </a:solidFill>
                          <a:latin typeface="Arial"/>
                          <a:ea typeface="Arial"/>
                          <a:cs typeface="Arial"/>
                        </a:rPr>
                        <a:t>edificios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>
                      <a:solidFill>
                        <a:srgbClr val="294C69"/>
                      </a:solidFill>
                      <a:prstDash val="soli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83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id_edificio  PK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nombre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descripcion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1C817BC-D6C8-4984-AD32-6FC161DA7C0E}"/>
              </a:ext>
            </a:extLst>
          </p:cNvPr>
          <p:cNvGraphicFramePr/>
          <p:nvPr/>
        </p:nvGraphicFramePr>
        <p:xfrm>
          <a:off x="3390900" y="1695450"/>
          <a:ext cx="2590800" cy="2047875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8ECF0"/>
                          </a:solidFill>
                          <a:latin typeface="Arial"/>
                          <a:ea typeface="Arial"/>
                          <a:cs typeface="Arial"/>
                        </a:rPr>
                        <a:t>pisos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>
                      <a:solidFill>
                        <a:srgbClr val="294C69"/>
                      </a:solidFill>
                      <a:prstDash val="soli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83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id_piso  PK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numero_piso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nombre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id_edificio  FK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B4DB0364-249F-4304-8725-349543BBBCC5}"/>
              </a:ext>
            </a:extLst>
          </p:cNvPr>
          <p:cNvGraphicFramePr/>
          <p:nvPr/>
        </p:nvGraphicFramePr>
        <p:xfrm>
          <a:off x="6172200" y="1695450"/>
          <a:ext cx="2590800" cy="2867025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8ECF0"/>
                          </a:solidFill>
                          <a:latin typeface="Arial"/>
                          <a:ea typeface="Arial"/>
                          <a:cs typeface="Arial"/>
                        </a:rPr>
                        <a:t>salas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>
                      <a:solidFill>
                        <a:srgbClr val="294C69"/>
                      </a:solidFill>
                      <a:prstDash val="soli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83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id_sala  PK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nombre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codigo_sala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codigo_qr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id_piso  FK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activo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4CB4E865-04B6-459F-97CA-4CF2ADA4652A}"/>
              </a:ext>
            </a:extLst>
          </p:cNvPr>
          <p:cNvGraphicFramePr/>
          <p:nvPr/>
        </p:nvGraphicFramePr>
        <p:xfrm>
          <a:off x="8953500" y="1695450"/>
          <a:ext cx="2590800" cy="4095750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8ECF0"/>
                          </a:solidFill>
                          <a:latin typeface="Arial"/>
                          <a:ea typeface="Arial"/>
                          <a:cs typeface="Arial"/>
                        </a:rPr>
                        <a:t>equipos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>
                      <a:solidFill>
                        <a:srgbClr val="294C69"/>
                      </a:solidFill>
                      <a:prstDash val="soli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83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id_equipo  PK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codigo_inventario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nombre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marca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descripcion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id_sala  FK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estado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fecha_registro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698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D1B"/>
            </a:gs>
            <a:gs pos="55000">
              <a:srgbClr val="111932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82C398C1-6657-4777-A3AC-3AC7E799450E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Catálogos de las incidencias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1DF8FDE-469F-49EE-A0BA-DF922F19540D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EB5CF"/>
                </a:solidFill>
                <a:latin typeface="Arial"/>
                <a:ea typeface="Arial"/>
                <a:cs typeface="Arial"/>
              </a:rPr>
              <a:t>15   SIGI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583C4D1-EDC0-48D2-A4F8-2C8B183AA6BA}"/>
              </a:ext>
            </a:extLst>
          </p:cNvPr>
          <p:cNvGraphicFramePr/>
          <p:nvPr/>
        </p:nvGraphicFramePr>
        <p:xfrm>
          <a:off x="609600" y="1752600"/>
          <a:ext cx="3476625" cy="1638300"/>
        </p:xfrm>
        <a:graphic>
          <a:graphicData uri="http://schemas.openxmlformats.org/drawingml/2006/table">
            <a:tbl>
              <a:tblPr/>
              <a:tblGrid>
                <a:gridCol w="347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8ECF0"/>
                          </a:solidFill>
                          <a:latin typeface="Arial"/>
                          <a:ea typeface="Arial"/>
                          <a:cs typeface="Arial"/>
                        </a:rPr>
                        <a:t>estados_incidencia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>
                      <a:solidFill>
                        <a:srgbClr val="294C69"/>
                      </a:solidFill>
                      <a:prstDash val="soli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83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id_estado  PK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nombre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descripcion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6D3A73B-8FCF-4DF2-AD1E-C48A8395C0F7}"/>
              </a:ext>
            </a:extLst>
          </p:cNvPr>
          <p:cNvGraphicFramePr/>
          <p:nvPr/>
        </p:nvGraphicFramePr>
        <p:xfrm>
          <a:off x="4391025" y="1752600"/>
          <a:ext cx="3476625" cy="1638300"/>
        </p:xfrm>
        <a:graphic>
          <a:graphicData uri="http://schemas.openxmlformats.org/drawingml/2006/table">
            <a:tbl>
              <a:tblPr/>
              <a:tblGrid>
                <a:gridCol w="347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8ECF0"/>
                          </a:solidFill>
                          <a:latin typeface="Arial"/>
                          <a:ea typeface="Arial"/>
                          <a:cs typeface="Arial"/>
                        </a:rPr>
                        <a:t>prioridades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>
                      <a:solidFill>
                        <a:srgbClr val="294C69"/>
                      </a:solidFill>
                      <a:prstDash val="soli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83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id_prioridad  PK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nombre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descripcion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7995C46-1C8B-415B-B628-1B3B8BEC4687}"/>
              </a:ext>
            </a:extLst>
          </p:cNvPr>
          <p:cNvGraphicFramePr/>
          <p:nvPr/>
        </p:nvGraphicFramePr>
        <p:xfrm>
          <a:off x="8172450" y="1752600"/>
          <a:ext cx="3409950" cy="1638300"/>
        </p:xfrm>
        <a:graphic>
          <a:graphicData uri="http://schemas.openxmlformats.org/drawingml/2006/table">
            <a:tbl>
              <a:tblPr/>
              <a:tblGrid>
                <a:gridCol w="340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8ECF0"/>
                          </a:solidFill>
                          <a:latin typeface="Arial"/>
                          <a:ea typeface="Arial"/>
                          <a:cs typeface="Arial"/>
                        </a:rPr>
                        <a:t>categorias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>
                      <a:solidFill>
                        <a:srgbClr val="294C69"/>
                      </a:solidFill>
                      <a:prstDash val="soli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83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id_categoria  PK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nombre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descripcion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C09CBF97-1951-4D6F-8B57-78F1D074131D}"/>
              </a:ext>
            </a:extLst>
          </p:cNvPr>
          <p:cNvSpPr>
            <a:spLocks noGrp="1"/>
          </p:cNvSpPr>
          <p:nvPr/>
        </p:nvSpPr>
        <p:spPr>
          <a:xfrm>
            <a:off x="609600" y="3990975"/>
            <a:ext cx="3476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Estados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C316F9-243E-43A5-808D-15428E912F3F}"/>
              </a:ext>
            </a:extLst>
          </p:cNvPr>
          <p:cNvSpPr>
            <a:spLocks noGrp="1"/>
          </p:cNvSpPr>
          <p:nvPr/>
        </p:nvSpPr>
        <p:spPr>
          <a:xfrm>
            <a:off x="609600" y="4533900"/>
            <a:ext cx="347662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Pendiente, Asignada,</a:t>
            </a:r>
            <a:br>
              <a:rPr sz="1875" b="0">
                <a:solidFill>
                  <a:srgbClr val="DDE8F7"/>
                </a:solidFill>
                <a:latin typeface="Arial"/>
                <a:ea typeface="Arial"/>
                <a:cs typeface="Arial"/>
              </a:rPr>
            </a:br>
            <a:r>
              <a:rPr sz="1875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En proceso, Resuelta y Cerrada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6663D61-63A8-4700-B55D-836C322D6DAB}"/>
              </a:ext>
            </a:extLst>
          </p:cNvPr>
          <p:cNvSpPr>
            <a:spLocks noGrp="1"/>
          </p:cNvSpPr>
          <p:nvPr/>
        </p:nvSpPr>
        <p:spPr>
          <a:xfrm>
            <a:off x="4391025" y="3990975"/>
            <a:ext cx="3476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Prioridades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6C2CE84-9516-4A0D-8935-56CE23069EE8}"/>
              </a:ext>
            </a:extLst>
          </p:cNvPr>
          <p:cNvSpPr>
            <a:spLocks noGrp="1"/>
          </p:cNvSpPr>
          <p:nvPr/>
        </p:nvSpPr>
        <p:spPr>
          <a:xfrm>
            <a:off x="4391025" y="4533900"/>
            <a:ext cx="347662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Baja, Media, Alta y Crítica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AA899C2-4BC0-49FD-9214-2A4B9834918E}"/>
              </a:ext>
            </a:extLst>
          </p:cNvPr>
          <p:cNvSpPr>
            <a:spLocks noGrp="1"/>
          </p:cNvSpPr>
          <p:nvPr/>
        </p:nvSpPr>
        <p:spPr>
          <a:xfrm>
            <a:off x="8172450" y="3990975"/>
            <a:ext cx="34099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Categorías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16DFD5C-0377-4E58-B923-04C4BC02F4FC}"/>
              </a:ext>
            </a:extLst>
          </p:cNvPr>
          <p:cNvSpPr>
            <a:spLocks noGrp="1"/>
          </p:cNvSpPr>
          <p:nvPr/>
        </p:nvSpPr>
        <p:spPr>
          <a:xfrm>
            <a:off x="8172450" y="4533900"/>
            <a:ext cx="34099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Hardware, Software, Red,</a:t>
            </a:r>
            <a:br>
              <a:rPr sz="1875" b="0">
                <a:solidFill>
                  <a:srgbClr val="DDE8F7"/>
                </a:solidFill>
                <a:latin typeface="Arial"/>
                <a:ea typeface="Arial"/>
                <a:cs typeface="Arial"/>
              </a:rPr>
            </a:br>
            <a:r>
              <a:rPr sz="1875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Infraestructura y Otro</a:t>
            </a:r>
          </a:p>
        </p:txBody>
      </p:sp>
    </p:spTree>
    <p:extLst>
      <p:ext uri="{BB962C8B-B14F-4D97-AF65-F5344CB8AC3E}">
        <p14:creationId xmlns:p14="http://schemas.microsoft.com/office/powerpoint/2010/main" val="1428136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D1B"/>
            </a:gs>
            <a:gs pos="55000">
              <a:srgbClr val="111932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A80E7A13-BC06-4884-A4C7-ACF5E2251497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Metodología y revisión semanal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872F17E-353E-4ADB-925E-F05B82A546AD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EB5CF"/>
                </a:solidFill>
                <a:latin typeface="Arial"/>
                <a:ea typeface="Arial"/>
                <a:cs typeface="Arial"/>
              </a:rPr>
              <a:t>16   SIGI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8FD1F2C-2283-4324-83A4-96BA4D6D41DC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858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6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25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Desarrollo incremental con retroalimentación del docente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686859A-BCF7-415B-AC7A-A86F016E5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2564342"/>
            <a:ext cx="11049000" cy="3253317"/>
          </a:xfrm>
          <a:prstGeom prst="rect">
            <a:avLst/>
          </a:prstGeom>
          <a:effectLst>
            <a:glow rad="60000">
              <a:srgbClr val="40DDE8">
                <a:alpha val="26000"/>
              </a:srgbClr>
            </a:glow>
            <a:outerShdw blurRad="95000" dist="35000" dir="5400000" rotWithShape="0">
              <a:srgbClr val="000000">
                <a:alpha val="3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6999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B18"/>
            </a:gs>
            <a:gs pos="55000">
              <a:srgbClr val="191537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7AEA5BB-BC3D-4A48-9FF8-D80D1E173FF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Dificultades y ajustes del trabajo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FB731BA-33ED-4A16-8694-C82344BE26E0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EB5CF"/>
                </a:solidFill>
                <a:latin typeface="Arial"/>
                <a:ea typeface="Arial"/>
                <a:cs typeface="Arial"/>
              </a:rPr>
              <a:t>18   SIGI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CE1A3A8-5B52-48AE-A493-0A0B3BE35A6E}"/>
              </a:ext>
            </a:extLst>
          </p:cNvPr>
          <p:cNvGraphicFramePr/>
          <p:nvPr/>
        </p:nvGraphicFramePr>
        <p:xfrm>
          <a:off x="609600" y="1657350"/>
          <a:ext cx="10953750" cy="3905250"/>
        </p:xfrm>
        <a:graphic>
          <a:graphicData uri="http://schemas.openxmlformats.org/drawingml/2006/table">
            <a:tbl>
              <a:tblPr/>
              <a:tblGrid>
                <a:gridCol w="347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8ECF0"/>
                          </a:solidFill>
                          <a:latin typeface="Arial"/>
                          <a:ea typeface="Arial"/>
                          <a:cs typeface="Arial"/>
                        </a:rPr>
                        <a:t>Dificultad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>
                      <a:solidFill>
                        <a:srgbClr val="294C69"/>
                      </a:solidFill>
                      <a:prstDash val="soli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834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8ECF0"/>
                          </a:solidFill>
                          <a:latin typeface="Arial"/>
                          <a:ea typeface="Arial"/>
                          <a:cs typeface="Arial"/>
                        </a:rPr>
                        <a:t>Respuesta del equipo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>
                      <a:solidFill>
                        <a:srgbClr val="294C69"/>
                      </a:solidFill>
                      <a:prstDash val="soli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83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Conexión del backend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Dedicamos tiempo adicional a integrar interfaz, API y base de datos.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Generación de QR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Revisamos el flujo de identificación y logramos generar y leer el código.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Retrasos en algunas tareas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Reorganizamos la secuencia y priorizamos las actividades dependientes.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Observaciones semanales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Orientamos las correcciones para la revisión siguiente.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094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D1B"/>
            </a:gs>
            <a:gs pos="55000">
              <a:srgbClr val="111932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76B178C2-3C3C-4872-B096-E09D7A57C2B7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Estado del avance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DFD9798-9B5A-4494-ABFE-878FEBFBFA5E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EB5CF"/>
                </a:solidFill>
                <a:latin typeface="Arial"/>
                <a:ea typeface="Arial"/>
                <a:cs typeface="Arial"/>
              </a:rPr>
              <a:t>19   SIGI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2C00E7A-C301-4B77-BA61-C29D0D7525E4}"/>
              </a:ext>
            </a:extLst>
          </p:cNvPr>
          <p:cNvGraphicFramePr/>
          <p:nvPr/>
        </p:nvGraphicFramePr>
        <p:xfrm>
          <a:off x="609600" y="1657350"/>
          <a:ext cx="10953750" cy="3857628"/>
        </p:xfrm>
        <a:graphic>
          <a:graphicData uri="http://schemas.openxmlformats.org/drawingml/2006/table">
            <a:tbl>
              <a:tblPr/>
              <a:tblGrid>
                <a:gridCol w="366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8ECF0"/>
                          </a:solidFill>
                          <a:latin typeface="Arial"/>
                          <a:ea typeface="Arial"/>
                          <a:cs typeface="Arial"/>
                        </a:rPr>
                        <a:t>Componente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>
                      <a:solidFill>
                        <a:srgbClr val="294C69"/>
                      </a:solidFill>
                      <a:prstDash val="soli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834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8ECF0"/>
                          </a:solidFill>
                          <a:latin typeface="Arial"/>
                          <a:ea typeface="Arial"/>
                          <a:cs typeface="Arial"/>
                        </a:rPr>
                        <a:t>Estado al cierre de la prueba local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>
                      <a:solidFill>
                        <a:srgbClr val="294C69"/>
                      </a:solidFill>
                      <a:prstDash val="soli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83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Acceso y permisos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Comprobados en los perfiles utilizados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Incidencias e historial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Registro, atención y resolución comprobados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QR por imagen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Generación y lectura comprobadas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Indicadores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Panel técnico operativo, panel del profesor con error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11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Alertas y Power BI</a:t>
                      </a:r>
                    </a:p>
                  </a:txBody>
                  <a:tcPr>
                    <a:lnL w="6668">
                      <a:solidFill>
                        <a:srgbClr val="294C69"/>
                      </a:solidFill>
                      <a:prstDash val="soli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0ECFA"/>
                          </a:solidFill>
                          <a:latin typeface="Arial"/>
                          <a:ea typeface="Arial"/>
                          <a:cs typeface="Arial"/>
                        </a:rPr>
                        <a:t>Pendientes de implementación o entrega</a:t>
                      </a:r>
                    </a:p>
                  </a:txBody>
                  <a:tcPr>
                    <a:lnL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294C69"/>
                      </a:solidFill>
                      <a:prstDash val="solid"/>
                    </a:lnR>
                    <a:lnT w="6668" cap="flat" cmpd="sng" algn="ctr">
                      <a:solidFill>
                        <a:srgbClr val="294C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294C69"/>
                      </a:solidFill>
                      <a:prstDash val="solid"/>
                    </a:lnB>
                    <a:solidFill>
                      <a:srgbClr val="0C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1545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D1B"/>
            </a:gs>
            <a:gs pos="55000">
              <a:srgbClr val="111932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E32E010-60D5-4C01-96CA-A02372A1617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Acceso al sistema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4B21CDA-5765-4ECE-A60D-34557C229CE1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3B9D2"/>
                </a:solidFill>
                <a:latin typeface="Arial"/>
                <a:ea typeface="Arial"/>
                <a:cs typeface="Arial"/>
              </a:rPr>
              <a:t>20   SIGI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22A989A-4EF9-4306-822E-1EA0921B0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446907"/>
            <a:ext cx="7572375" cy="4259461"/>
          </a:xfrm>
          <a:prstGeom prst="rect">
            <a:avLst/>
          </a:prstGeom>
          <a:effectLst>
            <a:glow rad="60000">
              <a:srgbClr val="40DDE8">
                <a:alpha val="26000"/>
              </a:srgbClr>
            </a:glow>
            <a:outerShdw blurRad="95000" dist="35000" dir="5400000" rotWithShape="0">
              <a:srgbClr val="000000">
                <a:alpha val="33000"/>
              </a:srgbClr>
            </a:outerShdw>
          </a:effec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505F4F9-4C71-4147-A41C-5A4D6119B2F8}"/>
              </a:ext>
            </a:extLst>
          </p:cNvPr>
          <p:cNvSpPr>
            <a:spLocks noGrp="1"/>
          </p:cNvSpPr>
          <p:nvPr/>
        </p:nvSpPr>
        <p:spPr>
          <a:xfrm>
            <a:off x="8572500" y="1714500"/>
            <a:ext cx="2857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400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3E6DC"/>
                </a:solidFill>
                <a:latin typeface="Arial"/>
                <a:ea typeface="Arial"/>
                <a:cs typeface="Arial"/>
              </a:rPr>
              <a:t>Tres perfiles de prueba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9014496-7A01-4E9B-83B8-3B22BBF4815B}"/>
              </a:ext>
            </a:extLst>
          </p:cNvPr>
          <p:cNvSpPr>
            <a:spLocks noGrp="1"/>
          </p:cNvSpPr>
          <p:nvPr/>
        </p:nvSpPr>
        <p:spPr>
          <a:xfrm>
            <a:off x="8572500" y="2819400"/>
            <a:ext cx="2857500" cy="2524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7FF"/>
                </a:solidFill>
                <a:latin typeface="Arial"/>
                <a:ea typeface="Arial"/>
                <a:cs typeface="Arial"/>
              </a:rPr>
              <a:t>Profesor</a:t>
            </a:r>
            <a:br>
              <a:rPr sz="2025" b="0">
                <a:solidFill>
                  <a:srgbClr val="F3F7FF"/>
                </a:solidFill>
                <a:latin typeface="Arial"/>
                <a:ea typeface="Arial"/>
                <a:cs typeface="Arial"/>
              </a:rPr>
            </a:br>
            <a:br>
              <a:rPr sz="2025" b="0">
                <a:solidFill>
                  <a:srgbClr val="F3F7FF"/>
                </a:solidFill>
                <a:latin typeface="Arial"/>
                <a:ea typeface="Arial"/>
                <a:cs typeface="Arial"/>
              </a:rPr>
            </a:br>
            <a:r>
              <a:rPr sz="2025" b="0">
                <a:solidFill>
                  <a:srgbClr val="F3F7FF"/>
                </a:solidFill>
                <a:latin typeface="Arial"/>
                <a:ea typeface="Arial"/>
                <a:cs typeface="Arial"/>
              </a:rPr>
              <a:t>Técnico CETECOM</a:t>
            </a:r>
            <a:br>
              <a:rPr sz="2025" b="0">
                <a:solidFill>
                  <a:srgbClr val="F3F7FF"/>
                </a:solidFill>
                <a:latin typeface="Arial"/>
                <a:ea typeface="Arial"/>
                <a:cs typeface="Arial"/>
              </a:rPr>
            </a:br>
            <a:br>
              <a:rPr sz="2025" b="0">
                <a:solidFill>
                  <a:srgbClr val="F3F7FF"/>
                </a:solidFill>
                <a:latin typeface="Arial"/>
                <a:ea typeface="Arial"/>
                <a:cs typeface="Arial"/>
              </a:rPr>
            </a:br>
            <a:r>
              <a:rPr sz="2025" b="0">
                <a:solidFill>
                  <a:srgbClr val="F3F7FF"/>
                </a:solidFill>
                <a:latin typeface="Arial"/>
                <a:ea typeface="Arial"/>
                <a:cs typeface="Arial"/>
              </a:rPr>
              <a:t>Administrador</a:t>
            </a:r>
          </a:p>
        </p:txBody>
      </p:sp>
    </p:spTree>
    <p:extLst>
      <p:ext uri="{BB962C8B-B14F-4D97-AF65-F5344CB8AC3E}">
        <p14:creationId xmlns:p14="http://schemas.microsoft.com/office/powerpoint/2010/main" val="821962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B18"/>
            </a:gs>
            <a:gs pos="55000">
              <a:srgbClr val="191537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7C26D265-D97B-49A4-94BD-C7FE668D16B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Registro de una incidencia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CAC1F1F-464B-4E86-BAFC-8397CFAEAF9B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EB5CF"/>
                </a:solidFill>
                <a:latin typeface="Arial"/>
                <a:ea typeface="Arial"/>
                <a:cs typeface="Arial"/>
              </a:rPr>
              <a:t>21   SIGI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8CD881-53C3-4166-8DB1-F3F484C3E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419519"/>
            <a:ext cx="8629650" cy="4857163"/>
          </a:xfrm>
          <a:prstGeom prst="rect">
            <a:avLst/>
          </a:prstGeom>
          <a:effectLst>
            <a:glow rad="60000">
              <a:srgbClr val="40DDE8">
                <a:alpha val="26000"/>
              </a:srgbClr>
            </a:glow>
            <a:outerShdw blurRad="95000" dist="35000" dir="5400000" rotWithShape="0">
              <a:srgbClr val="000000">
                <a:alpha val="33000"/>
              </a:srgbClr>
            </a:outerShdw>
          </a:effec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8082F98-F7AE-4DF3-9C88-00DE1E3E0E7E}"/>
              </a:ext>
            </a:extLst>
          </p:cNvPr>
          <p:cNvSpPr>
            <a:spLocks noGrp="1"/>
          </p:cNvSpPr>
          <p:nvPr/>
        </p:nvSpPr>
        <p:spPr>
          <a:xfrm>
            <a:off x="9496425" y="1714500"/>
            <a:ext cx="2190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4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INC-0002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F8EB348-A479-4785-A4F0-3B252E47BAE0}"/>
              </a:ext>
            </a:extLst>
          </p:cNvPr>
          <p:cNvSpPr>
            <a:spLocks noGrp="1"/>
          </p:cNvSpPr>
          <p:nvPr/>
        </p:nvSpPr>
        <p:spPr>
          <a:xfrm>
            <a:off x="9496425" y="2600325"/>
            <a:ext cx="2190750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Sala 101</a:t>
            </a:r>
            <a:br>
              <a:rPr sz="1950" b="0">
                <a:solidFill>
                  <a:srgbClr val="DDE8F7"/>
                </a:solidFill>
                <a:latin typeface="Arial"/>
                <a:ea typeface="Arial"/>
                <a:cs typeface="Arial"/>
              </a:rPr>
            </a:br>
            <a:br>
              <a:rPr sz="1950" b="0">
                <a:solidFill>
                  <a:srgbClr val="DDE8F7"/>
                </a:solidFill>
                <a:latin typeface="Arial"/>
                <a:ea typeface="Arial"/>
                <a:cs typeface="Arial"/>
              </a:rPr>
            </a:br>
            <a:r>
              <a:rPr sz="195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Prioridad alta</a:t>
            </a:r>
            <a:br>
              <a:rPr sz="1950" b="0">
                <a:solidFill>
                  <a:srgbClr val="DDE8F7"/>
                </a:solidFill>
                <a:latin typeface="Arial"/>
                <a:ea typeface="Arial"/>
                <a:cs typeface="Arial"/>
              </a:rPr>
            </a:br>
            <a:br>
              <a:rPr sz="1950" b="0">
                <a:solidFill>
                  <a:srgbClr val="DDE8F7"/>
                </a:solidFill>
                <a:latin typeface="Arial"/>
                <a:ea typeface="Arial"/>
                <a:cs typeface="Arial"/>
              </a:rPr>
            </a:br>
            <a:r>
              <a:rPr sz="195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Estado inicial</a:t>
            </a:r>
            <a:br>
              <a:rPr sz="1950" b="0">
                <a:solidFill>
                  <a:srgbClr val="DDE8F7"/>
                </a:solidFill>
                <a:latin typeface="Arial"/>
                <a:ea typeface="Arial"/>
                <a:cs typeface="Arial"/>
              </a:rPr>
            </a:br>
            <a:r>
              <a:rPr sz="195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Pendiente</a:t>
            </a:r>
          </a:p>
        </p:txBody>
      </p:sp>
    </p:spTree>
    <p:extLst>
      <p:ext uri="{BB962C8B-B14F-4D97-AF65-F5344CB8AC3E}">
        <p14:creationId xmlns:p14="http://schemas.microsoft.com/office/powerpoint/2010/main" val="1903018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D1B"/>
            </a:gs>
            <a:gs pos="55000">
              <a:srgbClr val="111932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58458860-4F5B-4DE8-8915-526C6848F4F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Atención desde CETECOM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6235DC1-9460-4DE1-96B0-7036FD5AD4C9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3B9D2"/>
                </a:solidFill>
                <a:latin typeface="Arial"/>
                <a:ea typeface="Arial"/>
                <a:cs typeface="Arial"/>
              </a:rPr>
              <a:t>22   SIGI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646FD89-9848-4B53-8A02-FFA7C1F93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34497" y="1438275"/>
            <a:ext cx="8123006" cy="4572000"/>
          </a:xfrm>
          <a:prstGeom prst="rect">
            <a:avLst/>
          </a:prstGeom>
          <a:effectLst>
            <a:glow rad="60000">
              <a:srgbClr val="40DDE8">
                <a:alpha val="26000"/>
              </a:srgbClr>
            </a:glow>
            <a:outerShdw blurRad="95000" dist="35000" dir="5400000" rotWithShape="0">
              <a:srgbClr val="000000">
                <a:alpha val="3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9659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D1B"/>
            </a:gs>
            <a:gs pos="55000">
              <a:srgbClr val="111932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E04224D4-AD71-4590-A13F-6B784C797D86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Resolución y consulta posterior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174AF6-BE26-4BA6-8C6E-7B99CEC33352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EB5CF"/>
                </a:solidFill>
                <a:latin typeface="Arial"/>
                <a:ea typeface="Arial"/>
                <a:cs typeface="Arial"/>
              </a:rPr>
              <a:t>23   SIGI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01EA41C-9CEF-4EAD-A446-C9FEBF411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34497" y="1438275"/>
            <a:ext cx="8123006" cy="4572000"/>
          </a:xfrm>
          <a:prstGeom prst="rect">
            <a:avLst/>
          </a:prstGeom>
          <a:effectLst>
            <a:glow rad="60000">
              <a:srgbClr val="40DDE8">
                <a:alpha val="26000"/>
              </a:srgbClr>
            </a:glow>
            <a:outerShdw blurRad="95000" dist="35000" dir="5400000" rotWithShape="0">
              <a:srgbClr val="000000">
                <a:alpha val="3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073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B18"/>
            </a:gs>
            <a:gs pos="55000">
              <a:srgbClr val="191537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F8F2C745-03A5-42F5-B8F5-9EAB0985445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Historial de la incidencia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1DE87F7-A825-4569-8E18-DFACF75ABEE2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3B9D2"/>
                </a:solidFill>
                <a:latin typeface="Arial"/>
                <a:ea typeface="Arial"/>
                <a:cs typeface="Arial"/>
              </a:rPr>
              <a:t>24   SIGI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11A98E7-5BBA-4887-8832-6A578D043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34497" y="1428750"/>
            <a:ext cx="8123006" cy="4572000"/>
          </a:xfrm>
          <a:prstGeom prst="rect">
            <a:avLst/>
          </a:prstGeom>
          <a:effectLst>
            <a:glow rad="60000">
              <a:srgbClr val="40DDE8">
                <a:alpha val="26000"/>
              </a:srgbClr>
            </a:glow>
            <a:outerShdw blurRad="95000" dist="35000" dir="5400000" rotWithShape="0">
              <a:srgbClr val="000000">
                <a:alpha val="3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10884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D1B"/>
            </a:gs>
            <a:gs pos="55000">
              <a:srgbClr val="111932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B2CE0D1-8BDC-4870-BA9B-8C038560230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Identificación de salas mediante QR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D665C02-A669-4AA8-8E66-0E19E6A35074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3B9D2"/>
                </a:solidFill>
                <a:latin typeface="Arial"/>
                <a:ea typeface="Arial"/>
                <a:cs typeface="Arial"/>
              </a:rPr>
              <a:t>25   SIGI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4D96548-9438-4194-9649-9DED0163D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019300"/>
            <a:ext cx="2238375" cy="2238375"/>
          </a:xfrm>
          <a:prstGeom prst="rect">
            <a:avLst/>
          </a:prstGeom>
          <a:effectLst>
            <a:glow rad="60000">
              <a:srgbClr val="40DDE8">
                <a:alpha val="26000"/>
              </a:srgbClr>
            </a:glow>
            <a:outerShdw blurRad="95000" dist="35000" dir="5400000" rotWithShape="0">
              <a:srgbClr val="000000">
                <a:alpha val="33000"/>
              </a:srgbClr>
            </a:outerShdw>
          </a:effec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A90ACAA-0FEE-4486-B036-A562290D46AF}"/>
              </a:ext>
            </a:extLst>
          </p:cNvPr>
          <p:cNvSpPr>
            <a:spLocks noGrp="1"/>
          </p:cNvSpPr>
          <p:nvPr/>
        </p:nvSpPr>
        <p:spPr>
          <a:xfrm>
            <a:off x="609600" y="4543425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3E6DC"/>
                </a:solidFill>
                <a:latin typeface="Arial"/>
                <a:ea typeface="Arial"/>
                <a:cs typeface="Arial"/>
              </a:rPr>
              <a:t>QR de Sala 101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8AB637-68D3-497F-8776-2AE39DE19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439435" y="1466850"/>
            <a:ext cx="8123006" cy="4572000"/>
          </a:xfrm>
          <a:prstGeom prst="rect">
            <a:avLst/>
          </a:prstGeom>
          <a:effectLst>
            <a:glow rad="60000">
              <a:srgbClr val="40DDE8">
                <a:alpha val="26000"/>
              </a:srgbClr>
            </a:glow>
            <a:outerShdw blurRad="95000" dist="35000" dir="5400000" rotWithShape="0">
              <a:srgbClr val="000000">
                <a:alpha val="3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96424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D1B"/>
            </a:gs>
            <a:gs pos="55000">
              <a:srgbClr val="111932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2311FE0-FEA5-4D5B-A531-6DC45E162619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Alcance pendiente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337144E-C021-4465-9E64-E5F681BB8A4E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EB5CF"/>
                </a:solidFill>
                <a:latin typeface="Arial"/>
                <a:ea typeface="Arial"/>
                <a:cs typeface="Arial"/>
              </a:rPr>
              <a:t>29   SIGI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FA648CC-2A3C-44C8-8A53-A3F0A084CC9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498157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Alertas de emergencia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CA7398F-DA75-40E2-9B63-03228336AD85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4981575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Conectar la activación con la API, el almacenamiento y la recepción por el personal autorizado.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352F652-D11E-4D6D-B0B0-9309C7ADE731}"/>
              </a:ext>
            </a:extLst>
          </p:cNvPr>
          <p:cNvSpPr>
            <a:spLocks noGrp="1"/>
          </p:cNvSpPr>
          <p:nvPr/>
        </p:nvSpPr>
        <p:spPr>
          <a:xfrm>
            <a:off x="6296025" y="1619250"/>
            <a:ext cx="498157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Power BI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DD73F5E-320C-4219-AA06-92D04684661B}"/>
              </a:ext>
            </a:extLst>
          </p:cNvPr>
          <p:cNvSpPr>
            <a:spLocks noGrp="1"/>
          </p:cNvSpPr>
          <p:nvPr/>
        </p:nvSpPr>
        <p:spPr>
          <a:xfrm>
            <a:off x="6296025" y="2390775"/>
            <a:ext cx="4981575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Construir y entregar la reportería con datos consistentes.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21E4BB3-D711-4843-B90E-EDE1A57940F9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498157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Dispositivos móviles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9A8BD04-3AAB-4C9A-98B1-26B679D01E96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981575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Comprobar adaptación de pantallas y lectura QR mediante cámara.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D6138BA-D70F-41CA-A684-AF7E30E56929}"/>
              </a:ext>
            </a:extLst>
          </p:cNvPr>
          <p:cNvSpPr>
            <a:spLocks noGrp="1"/>
          </p:cNvSpPr>
          <p:nvPr/>
        </p:nvSpPr>
        <p:spPr>
          <a:xfrm>
            <a:off x="6296025" y="3562350"/>
            <a:ext cx="498157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Correcciones y documentación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75971A2-4260-4357-A0A1-DFD9347E447C}"/>
              </a:ext>
            </a:extLst>
          </p:cNvPr>
          <p:cNvSpPr>
            <a:spLocks noGrp="1"/>
          </p:cNvSpPr>
          <p:nvPr/>
        </p:nvSpPr>
        <p:spPr>
          <a:xfrm>
            <a:off x="6296025" y="4333875"/>
            <a:ext cx="4981575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Resolver los fallos, repetir los casos y actualizar las instrucciones del sistema.</a:t>
            </a:r>
          </a:p>
        </p:txBody>
      </p:sp>
    </p:spTree>
    <p:extLst>
      <p:ext uri="{BB962C8B-B14F-4D97-AF65-F5344CB8AC3E}">
        <p14:creationId xmlns:p14="http://schemas.microsoft.com/office/powerpoint/2010/main" val="11564634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B18"/>
            </a:gs>
            <a:gs pos="55000">
              <a:srgbClr val="191537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FFB1F11A-0192-4503-81B9-4B1A9512515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Próximos pasos del equipo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9E2519E-36AF-4FBF-9246-2B9BBD068C47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9EB5C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EB5CF"/>
                </a:solidFill>
                <a:latin typeface="Arial"/>
                <a:ea typeface="Arial"/>
                <a:cs typeface="Arial"/>
              </a:rPr>
              <a:t>30   SIGI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E016B78-D3AD-4432-B691-4ABE2E249928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498157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01  Resolver los fallos encontrados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F314EEA-1212-4714-933A-00AA84FAC2EF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4981575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Vista del panel de indicadores y discrepancia en la prueba de registro.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78B3327-1112-4400-B62A-20B1EF20F89E}"/>
              </a:ext>
            </a:extLst>
          </p:cNvPr>
          <p:cNvSpPr>
            <a:spLocks noGrp="1"/>
          </p:cNvSpPr>
          <p:nvPr/>
        </p:nvSpPr>
        <p:spPr>
          <a:xfrm>
            <a:off x="6296025" y="1619250"/>
            <a:ext cx="498157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02  Repetir y ampliar las pruebas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0B54B9E-0E4C-43CF-956B-4C36C349E57E}"/>
              </a:ext>
            </a:extLst>
          </p:cNvPr>
          <p:cNvSpPr>
            <a:spLocks noGrp="1"/>
          </p:cNvSpPr>
          <p:nvPr/>
        </p:nvSpPr>
        <p:spPr>
          <a:xfrm>
            <a:off x="6296025" y="2390775"/>
            <a:ext cx="4981575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Conservar resultados de API, integración, cámara y dispositivos móviles.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93E3C86-4F14-4561-9E95-8C124E8F0C26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498157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03  Completar alertas y reportería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C8BD8AD-446C-4201-8F5F-5867108D6228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981575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Validar los módulos pendientes con el docente.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88EECF5-F2D3-4CCA-BDE5-8E457CE420BC}"/>
              </a:ext>
            </a:extLst>
          </p:cNvPr>
          <p:cNvSpPr>
            <a:spLocks noGrp="1"/>
          </p:cNvSpPr>
          <p:nvPr/>
        </p:nvSpPr>
        <p:spPr>
          <a:xfrm>
            <a:off x="6296025" y="3562350"/>
            <a:ext cx="498157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50DD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0DDF3"/>
                </a:solidFill>
                <a:latin typeface="Arial"/>
                <a:ea typeface="Arial"/>
                <a:cs typeface="Arial"/>
              </a:rPr>
              <a:t>04  Consolidar la entrega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23F61B1-7217-45D3-862A-EF92C2C3D47A}"/>
              </a:ext>
            </a:extLst>
          </p:cNvPr>
          <p:cNvSpPr>
            <a:spLocks noGrp="1"/>
          </p:cNvSpPr>
          <p:nvPr/>
        </p:nvSpPr>
        <p:spPr>
          <a:xfrm>
            <a:off x="6296025" y="4333875"/>
            <a:ext cx="4981575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DDE8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8F7"/>
                </a:solidFill>
                <a:latin typeface="Arial"/>
                <a:ea typeface="Arial"/>
                <a:cs typeface="Arial"/>
              </a:rPr>
              <a:t>Actualizar documentación y evidencias de contribución individual en GitHub.</a:t>
            </a:r>
          </a:p>
        </p:txBody>
      </p:sp>
    </p:spTree>
    <p:extLst>
      <p:ext uri="{BB962C8B-B14F-4D97-AF65-F5344CB8AC3E}">
        <p14:creationId xmlns:p14="http://schemas.microsoft.com/office/powerpoint/2010/main" val="1711751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D1B"/>
            </a:gs>
            <a:gs pos="55000">
              <a:srgbClr val="111932"/>
            </a:gs>
            <a:gs pos="100000">
              <a:srgbClr val="071E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6AC09563-0F1A-4693-8FBF-AF8751719965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defPPr>
            <a:lvl1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1pPr>
            <a:lvl2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2pPr>
            <a:lvl3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3pPr>
            <a:lvl4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4pPr>
            <a:lvl5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5pPr>
            <a:lvl6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6pPr>
            <a:lvl7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7pPr>
            <a:lvl8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8pPr>
            <a:lvl9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F3F7FF"/>
                </a:solidFill>
                <a:latin typeface="Bahnschrift"/>
                <a:ea typeface="Arial"/>
                <a:cs typeface="Arial"/>
              </a:defRPr>
            </a:pPr>
            <a:r>
              <a:rPr sz="3300" b="1">
                <a:solidFill>
                  <a:srgbClr val="F3F7FF"/>
                </a:solidFill>
                <a:latin typeface="Bahnschrift"/>
                <a:ea typeface="Arial"/>
                <a:cs typeface="Arial"/>
              </a:rPr>
              <a:t>Conclusiones del avance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273FF18-8E63-4209-A603-83F76C6B4CD0}"/>
              </a:ext>
            </a:extLst>
          </p:cNvPr>
          <p:cNvSpPr>
            <a:spLocks noGrp="1"/>
          </p:cNvSpPr>
          <p:nvPr/>
        </p:nvSpPr>
        <p:spPr>
          <a:xfrm>
            <a:off x="609600" y="6467475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A3B9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3B9D2"/>
                </a:solidFill>
                <a:latin typeface="Arial"/>
                <a:ea typeface="Arial"/>
                <a:cs typeface="Arial"/>
              </a:rPr>
              <a:t>31   SIGI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C08F391-4F20-4FAE-B4C3-238B0F217D67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57275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450" b="1">
                <a:solidFill>
                  <a:srgbClr val="53E6DC"/>
                </a:solidFill>
                <a:latin typeface="Bahnschrift"/>
                <a:ea typeface="Arial"/>
                <a:cs typeface="Arial"/>
              </a:defRPr>
            </a:defPPr>
            <a:lvl1pPr>
              <a:defRPr sz="3450" b="1">
                <a:solidFill>
                  <a:srgbClr val="53E6DC"/>
                </a:solidFill>
                <a:latin typeface="Bahnschrift"/>
                <a:ea typeface="Arial"/>
                <a:cs typeface="Arial"/>
              </a:defRPr>
            </a:lvl1pPr>
            <a:lvl2pPr>
              <a:defRPr sz="3450" b="1">
                <a:solidFill>
                  <a:srgbClr val="53E6DC"/>
                </a:solidFill>
                <a:latin typeface="Bahnschrift"/>
                <a:ea typeface="Arial"/>
                <a:cs typeface="Arial"/>
              </a:defRPr>
            </a:lvl2pPr>
            <a:lvl3pPr>
              <a:defRPr sz="3450" b="1">
                <a:solidFill>
                  <a:srgbClr val="53E6DC"/>
                </a:solidFill>
                <a:latin typeface="Bahnschrift"/>
                <a:ea typeface="Arial"/>
                <a:cs typeface="Arial"/>
              </a:defRPr>
            </a:lvl3pPr>
            <a:lvl4pPr>
              <a:defRPr sz="3450" b="1">
                <a:solidFill>
                  <a:srgbClr val="53E6DC"/>
                </a:solidFill>
                <a:latin typeface="Bahnschrift"/>
                <a:ea typeface="Arial"/>
                <a:cs typeface="Arial"/>
              </a:defRPr>
            </a:lvl4pPr>
            <a:lvl5pPr>
              <a:defRPr sz="3450" b="1">
                <a:solidFill>
                  <a:srgbClr val="53E6DC"/>
                </a:solidFill>
                <a:latin typeface="Bahnschrift"/>
                <a:ea typeface="Arial"/>
                <a:cs typeface="Arial"/>
              </a:defRPr>
            </a:lvl5pPr>
            <a:lvl6pPr>
              <a:defRPr sz="3450" b="1">
                <a:solidFill>
                  <a:srgbClr val="53E6DC"/>
                </a:solidFill>
                <a:latin typeface="Bahnschrift"/>
                <a:ea typeface="Arial"/>
                <a:cs typeface="Arial"/>
              </a:defRPr>
            </a:lvl6pPr>
            <a:lvl7pPr>
              <a:defRPr sz="3450" b="1">
                <a:solidFill>
                  <a:srgbClr val="53E6DC"/>
                </a:solidFill>
                <a:latin typeface="Bahnschrift"/>
                <a:ea typeface="Arial"/>
                <a:cs typeface="Arial"/>
              </a:defRPr>
            </a:lvl7pPr>
            <a:lvl8pPr>
              <a:defRPr sz="3450" b="1">
                <a:solidFill>
                  <a:srgbClr val="53E6DC"/>
                </a:solidFill>
                <a:latin typeface="Bahnschrift"/>
                <a:ea typeface="Arial"/>
                <a:cs typeface="Arial"/>
              </a:defRPr>
            </a:lvl8pPr>
            <a:lvl9pPr>
              <a:defRPr sz="3450" b="1">
                <a:solidFill>
                  <a:srgbClr val="53E6DC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450" b="1">
                <a:solidFill>
                  <a:srgbClr val="53E6DC"/>
                </a:solidFill>
                <a:latin typeface="Bahnschrift"/>
                <a:ea typeface="Arial"/>
                <a:cs typeface="Arial"/>
              </a:defRPr>
            </a:pPr>
            <a:r>
              <a:rPr sz="3450" b="1">
                <a:solidFill>
                  <a:srgbClr val="53E6DC"/>
                </a:solidFill>
                <a:latin typeface="Bahnschrift"/>
                <a:ea typeface="Arial"/>
                <a:cs typeface="Arial"/>
              </a:rPr>
              <a:t>El flujo principal de incidencias</a:t>
            </a:r>
            <a:br>
              <a:rPr sz="3450" b="1">
                <a:solidFill>
                  <a:srgbClr val="53E6DC"/>
                </a:solidFill>
                <a:latin typeface="Bahnschrift"/>
                <a:ea typeface="Arial"/>
                <a:cs typeface="Arial"/>
              </a:rPr>
            </a:br>
            <a:r>
              <a:rPr sz="3450" b="1">
                <a:solidFill>
                  <a:srgbClr val="53E6DC"/>
                </a:solidFill>
                <a:latin typeface="Bahnschrift"/>
                <a:ea typeface="Arial"/>
                <a:cs typeface="Arial"/>
              </a:rPr>
              <a:t>funciona en la prueba local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1A28936-ED8C-4DDA-AA36-182C11F4B432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3302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defPPr>
            <a:lvl1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1pPr>
            <a:lvl2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2pPr>
            <a:lvl3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3pPr>
            <a:lvl4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4pPr>
            <a:lvl5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5pPr>
            <a:lvl6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6pPr>
            <a:lvl7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7pPr>
            <a:lvl8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8pPr>
            <a:lvl9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pPr>
            <a:r>
              <a:rPr sz="3225" b="1">
                <a:solidFill>
                  <a:srgbClr val="B391FF"/>
                </a:solidFill>
                <a:latin typeface="Bahnschrift"/>
                <a:ea typeface="Arial"/>
                <a:cs typeface="Arial"/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6530CD5-0B83-4045-B057-0B09389F30F4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3302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3E6DC"/>
                </a:solidFill>
                <a:latin typeface="Arial"/>
                <a:ea typeface="Arial"/>
                <a:cs typeface="Arial"/>
              </a:rPr>
              <a:t>Integración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302A8F2-D2F1-4BAB-88A2-AA75761AE42A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33020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7FF"/>
                </a:solidFill>
                <a:latin typeface="Arial"/>
                <a:ea typeface="Arial"/>
                <a:cs typeface="Arial"/>
              </a:rPr>
              <a:t>Comprobamos el registro, la atención, la resolución y el historial con MySQL.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EB53049-F1E8-4D76-9BA9-D7FCFBED86BF}"/>
              </a:ext>
            </a:extLst>
          </p:cNvPr>
          <p:cNvSpPr>
            <a:spLocks noGrp="1"/>
          </p:cNvSpPr>
          <p:nvPr/>
        </p:nvSpPr>
        <p:spPr>
          <a:xfrm>
            <a:off x="4292600" y="2876550"/>
            <a:ext cx="3302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defPPr>
            <a:lvl1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1pPr>
            <a:lvl2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2pPr>
            <a:lvl3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3pPr>
            <a:lvl4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4pPr>
            <a:lvl5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5pPr>
            <a:lvl6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6pPr>
            <a:lvl7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7pPr>
            <a:lvl8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8pPr>
            <a:lvl9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pPr>
            <a:r>
              <a:rPr sz="3225" b="1">
                <a:solidFill>
                  <a:srgbClr val="B391FF"/>
                </a:solidFill>
                <a:latin typeface="Bahnschrift"/>
                <a:ea typeface="Arial"/>
                <a:cs typeface="Arial"/>
              </a:rPr>
              <a:t>02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7166642-8B11-47D2-BD77-9BF2E8B12A08}"/>
              </a:ext>
            </a:extLst>
          </p:cNvPr>
          <p:cNvSpPr>
            <a:spLocks noGrp="1"/>
          </p:cNvSpPr>
          <p:nvPr/>
        </p:nvSpPr>
        <p:spPr>
          <a:xfrm>
            <a:off x="4292600" y="3505200"/>
            <a:ext cx="3302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3E6DC"/>
                </a:solidFill>
                <a:latin typeface="Arial"/>
                <a:ea typeface="Arial"/>
                <a:cs typeface="Arial"/>
              </a:rPr>
              <a:t>Aprendizaje del proceso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7DB92B4-09F4-492C-BAFC-462A05A0F129}"/>
              </a:ext>
            </a:extLst>
          </p:cNvPr>
          <p:cNvSpPr>
            <a:spLocks noGrp="1"/>
          </p:cNvSpPr>
          <p:nvPr/>
        </p:nvSpPr>
        <p:spPr>
          <a:xfrm>
            <a:off x="4292600" y="4400550"/>
            <a:ext cx="33020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7FF"/>
                </a:solidFill>
                <a:latin typeface="Arial"/>
                <a:ea typeface="Arial"/>
                <a:cs typeface="Arial"/>
              </a:rPr>
              <a:t>Las dificultades de backend y QR y las revisiones semanales orientaron los ajustes.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CA9E42C-0478-4935-8FFD-0AE878151EF5}"/>
              </a:ext>
            </a:extLst>
          </p:cNvPr>
          <p:cNvSpPr>
            <a:spLocks noGrp="1"/>
          </p:cNvSpPr>
          <p:nvPr/>
        </p:nvSpPr>
        <p:spPr>
          <a:xfrm>
            <a:off x="7975600" y="2876550"/>
            <a:ext cx="3302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defPPr>
            <a:lvl1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1pPr>
            <a:lvl2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2pPr>
            <a:lvl3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3pPr>
            <a:lvl4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4pPr>
            <a:lvl5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5pPr>
            <a:lvl6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6pPr>
            <a:lvl7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7pPr>
            <a:lvl8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8pPr>
            <a:lvl9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B391FF"/>
                </a:solidFill>
                <a:latin typeface="Bahnschrift"/>
                <a:ea typeface="Arial"/>
                <a:cs typeface="Arial"/>
              </a:defRPr>
            </a:pPr>
            <a:r>
              <a:rPr sz="3225" b="1">
                <a:solidFill>
                  <a:srgbClr val="B391FF"/>
                </a:solidFill>
                <a:latin typeface="Bahnschrift"/>
                <a:ea typeface="Arial"/>
                <a:cs typeface="Arial"/>
              </a:rPr>
              <a:t>03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F829964-1CBB-4C92-8FF0-34F2FBBF76D7}"/>
              </a:ext>
            </a:extLst>
          </p:cNvPr>
          <p:cNvSpPr>
            <a:spLocks noGrp="1"/>
          </p:cNvSpPr>
          <p:nvPr/>
        </p:nvSpPr>
        <p:spPr>
          <a:xfrm>
            <a:off x="7975600" y="3505200"/>
            <a:ext cx="3302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1">
                <a:solidFill>
                  <a:srgbClr val="53E6D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3E6DC"/>
                </a:solidFill>
                <a:latin typeface="Arial"/>
                <a:ea typeface="Arial"/>
                <a:cs typeface="Arial"/>
              </a:rPr>
              <a:t>Continuidad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990DB8E-5BCF-43A5-8951-8778FCFA40CA}"/>
              </a:ext>
            </a:extLst>
          </p:cNvPr>
          <p:cNvSpPr>
            <a:spLocks noGrp="1"/>
          </p:cNvSpPr>
          <p:nvPr/>
        </p:nvSpPr>
        <p:spPr>
          <a:xfrm>
            <a:off x="7975600" y="4400550"/>
            <a:ext cx="33020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F3F7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7FF"/>
                </a:solidFill>
                <a:latin typeface="Arial"/>
                <a:ea typeface="Arial"/>
                <a:cs typeface="Arial"/>
              </a:rPr>
              <a:t>La evidencia identifica los fallos y permite priorizar el trabajo que sigue.</a:t>
            </a:r>
          </a:p>
        </p:txBody>
      </p:sp>
    </p:spTree>
    <p:extLst>
      <p:ext uri="{BB962C8B-B14F-4D97-AF65-F5344CB8AC3E}">
        <p14:creationId xmlns:p14="http://schemas.microsoft.com/office/powerpoint/2010/main" val="204764042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2644</Words>
  <Application>Microsoft Office PowerPoint</Application>
  <DocSecurity>0</DocSecurity>
  <PresentationFormat>Panorámica</PresentationFormat>
  <Paragraphs>316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Aptos</vt:lpstr>
      <vt:lpstr>Arial</vt:lpstr>
      <vt:lpstr>Bahnschrift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Kevin Bustamante</cp:lastModifiedBy>
  <cp:revision>3</cp:revision>
  <dcterms:created xsi:type="dcterms:W3CDTF">2026-10-19T12:14:54Z</dcterms:created>
  <dcterms:modified xsi:type="dcterms:W3CDTF">2026-10-19T13:41:44Z</dcterms:modified>
</cp:coreProperties>
</file>